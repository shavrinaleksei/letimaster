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Nunito" pitchFamily="2" charset="-52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6F8CAB-F90A-4E2E-B4E0-71E10332FB00}">
  <a:tblStyle styleId="{BC6F8CAB-F90A-4E2E-B4E0-71E10332FB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4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d62bd758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d62bd758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14f6339a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14f6339a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14f6339a8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14f6339a8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4f6339a8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14f6339a8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4f6339a8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14f6339a8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14f6339a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14f6339a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14f6339a8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14f6339a8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14f6339a8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14f6339a8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14f6339a8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14f6339a8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14f6339a8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14f6339a8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4f6339a8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14f6339a8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4f6339a8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14f6339a8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14f6339a8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14f6339a8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14f6339a8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14f6339a8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14f6339a8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14f6339a8_1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14f6339a8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14f6339a8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14f6339a8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14f6339a8_1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14f6339a8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14f6339a8_1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fd62bd758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fd62bd758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fd62bd758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fd62bd758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fd62bd75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fd62bd758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fd62bd758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fd62bd758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fd62bd758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fd62bd758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fd62bd758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fd62bd758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fd62bd75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fd62bd75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fd62bd758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fd62bd758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fd62bd75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fd62bd75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fd62bd75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fd62bd75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fd62bd758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fd62bd758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fd62bd758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fd62bd758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fd62bd758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fd62bd758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fd62bd758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fd62bd758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fd62bd758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fd62bd758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fd62bd758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fd62bd758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fd62bd758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fd62bd758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fd62bd758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fd62bd758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fd62bd758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fd62bd758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fd62bd758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9fd62bd758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fd62bd758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fd62bd758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fd62bd758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9fd62bd758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fd62bd758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fd62bd758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fd62bd758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fd62bd758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9fd62bd758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9fd62bd758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fd62bd758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9fd62bd758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9fd62bd758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9fd62bd758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fd62bd758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9fd62bd758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fd62bd758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fd62bd758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ml/autowek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http://www.cs.ubc.ca/labs/beta/Projects/autowek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AutoML System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Виноградова Маргарита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Шаврин Алексей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495425"/>
            <a:ext cx="7505700" cy="7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446850" y="1207925"/>
            <a:ext cx="8250300" cy="3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AutoML-системы для классического машинного обучения: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Auto-WEKA</a:t>
            </a:r>
            <a:r>
              <a:rPr lang="ru" sz="1600"/>
              <a:t> — автоматический выбор модели и её гиперпараметров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Hyperopt-Sklearn</a:t>
            </a:r>
            <a:r>
              <a:rPr lang="ru" sz="1600"/>
              <a:t> — оптимизация гиперпараметров в рамках sklearn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Auto-sklearn</a:t>
            </a:r>
            <a:r>
              <a:rPr lang="ru" sz="1600"/>
              <a:t> — автоматизированный ML-пайплайн с мета-обучением и ансамблями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Следующий этап AutoML: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Auto-Net</a:t>
            </a:r>
            <a:r>
              <a:rPr lang="ru" sz="1600"/>
              <a:t> — автоматическая настройка архитектур глубоких нейронных сетей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TPOT</a:t>
            </a:r>
            <a:r>
              <a:rPr lang="ru" sz="1600"/>
              <a:t> — эволюционное построение ML-конвейеров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Automatic Statistician</a:t>
            </a:r>
            <a:r>
              <a:rPr lang="ru" sz="1600"/>
              <a:t> — автоматическая интерпретация и генерация аналитических отчётов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Auto-Weka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819150" y="811750"/>
            <a:ext cx="75057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Combined Algorithm Selection and Hyperparameter Optimization (Cash)</a:t>
            </a:r>
            <a:endParaRPr/>
          </a:p>
        </p:txBody>
      </p:sp>
      <p:pic>
        <p:nvPicPr>
          <p:cNvPr id="147" name="Google Shape;147;p16" title="Снимок экрана 2025-11-07 в 20.38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2326410"/>
            <a:ext cx="750570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819150" y="3126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Sequential Model-based Algorithm Configuration (SMAC)</a:t>
            </a:r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819150" y="1345100"/>
            <a:ext cx="7505700" cy="30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шаги: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Построение вероятностной модели</a:t>
            </a:r>
            <a:endParaRPr/>
          </a:p>
          <a:p>
            <a:pPr marL="457200" lvl="0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AutoNum type="arabicPeriod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Выбор новой конфигурации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AutoNum type="arabicPeriod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Оценка конфигурации 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AutoNum type="arabicPeriod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Обновление модели 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AutoNum type="arabicPeriod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Раннее отсеивание плохих конфигураций 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AutoNum type="arabicPeriod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Диверсификация поиска 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AutoNum type="arabicPeriod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Повторение цикла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Auto-Weka</a:t>
            </a:r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24462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https://github.com/automl/autoweka</a:t>
            </a:r>
            <a:br>
              <a:rPr lang="ru"/>
            </a:br>
            <a:br>
              <a:rPr lang="ru"/>
            </a:br>
            <a:r>
              <a:rPr lang="ru" u="sng">
                <a:solidFill>
                  <a:schemeClr val="hlink"/>
                </a:solidFill>
                <a:hlinkClick r:id="rId4"/>
              </a:rPr>
              <a:t>http://www.cs.ubc.ca/labs/beta/Projects/autoweka</a:t>
            </a:r>
            <a:br>
              <a:rPr lang="ru"/>
            </a:br>
            <a:endParaRPr/>
          </a:p>
        </p:txBody>
      </p:sp>
      <p:pic>
        <p:nvPicPr>
          <p:cNvPr id="160" name="Google Shape;160;p18" title="Снимок экрана 2025-11-07 в 21.06.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625" y="59200"/>
            <a:ext cx="5718374" cy="495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683775" y="187450"/>
            <a:ext cx="38421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Эксперименты и Результаты</a:t>
            </a:r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28692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7" name="Google Shape;167;p19" title="Снимок экрана 2025-11-07 в 21.12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3125" y="422975"/>
            <a:ext cx="3371024" cy="28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title="Снимок экрана 2025-11-07 в 21.16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023478" y="394126"/>
            <a:ext cx="3642250" cy="529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Hyperopt-Sklearn</a:t>
            </a:r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Hyperopt для оптимизации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Область поиска,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Целевую функцию,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Алгоритм оптимизации.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819150" y="278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Пространство поиска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7" name="Google Shape;187;p22" title="Снимок экрана 2025-11-07 в 23.08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1417528"/>
            <a:ext cx="7143750" cy="31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title"/>
          </p:nvPr>
        </p:nvSpPr>
        <p:spPr>
          <a:xfrm>
            <a:off x="819150" y="2534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4" name="Google Shape;194;p23" title="Снимок экрана 2025-11-07 в 23.24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013450"/>
            <a:ext cx="4755799" cy="25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 title="Снимок экрана 2025-11-07 в 23.26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9950" y="3764875"/>
            <a:ext cx="4607025" cy="10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819150" y="2280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2" name="Google Shape;202;p24" title="Снимок экрана 2025-11-07 в 23.21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48" y="937675"/>
            <a:ext cx="4525724" cy="35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</a:t>
            </a: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9" name="Google Shape;209;p25" title="Снимок экрана 2025-11-07 в 23.31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987" y="165878"/>
            <a:ext cx="4515737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 title="Снимок экрана 2025-11-07 в 23.32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975" y="2654927"/>
            <a:ext cx="6187824" cy="22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Auto-sklearn</a:t>
            </a:r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Повышение эффективности</a:t>
            </a: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3" name="Google Shape;223;p27" title="Снимок экрана 2025-11-08 в 13.33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4"/>
            <a:ext cx="7651325" cy="16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40875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Практическая система</a:t>
            </a:r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0" name="Google Shape;230;p28" title="Снимок экрана 2025-11-08 в 14.37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024" y="575250"/>
            <a:ext cx="3365224" cy="407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8" title="Снимок экрана 2025-11-08 в 14.41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75" y="2381305"/>
            <a:ext cx="4918849" cy="21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819150" y="2026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Сравнение</a:t>
            </a:r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8" name="Google Shape;238;p29" title="Снимок экрана 2025-11-08 в 14.47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516" y="1370475"/>
            <a:ext cx="5872974" cy="34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819150" y="287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Сравнение с базовым auto-sklearn</a:t>
            </a:r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5" name="Google Shape;245;p30" title="Снимок экрана 2025-11-08 в 14.58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175" y="1241877"/>
            <a:ext cx="4445125" cy="194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 title="Снимок экрана 2025-11-08 в 14.58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6250" y="2656349"/>
            <a:ext cx="4324849" cy="198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</a:t>
            </a:r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7"/>
            <a:ext cx="6186750" cy="10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шаг развития AutoML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 классических моделей  к нейросетям и интерпретации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Auto-Net </a:t>
            </a:r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latin typeface="Nunito"/>
                <a:ea typeface="Nunito"/>
                <a:cs typeface="Nunito"/>
                <a:sym typeface="Nunito"/>
              </a:rPr>
              <a:t>Автоматизация нейронных сетей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440450" y="5540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Нейросеть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3">
            <a:alphaModFix/>
          </a:blip>
          <a:srcRect l="16284" r="16033"/>
          <a:stretch/>
        </p:blipFill>
        <p:spPr>
          <a:xfrm>
            <a:off x="3252947" y="379638"/>
            <a:ext cx="5263078" cy="43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440450" y="12806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Структура нейронной сети: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Входной слой: </a:t>
            </a:r>
            <a:r>
              <a:rPr lang="ru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принимает данные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Скрытые слои:</a:t>
            </a:r>
            <a:r>
              <a:rPr lang="ru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вычисляют промежуточные признаки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Выходной слой:</a:t>
            </a:r>
            <a:r>
              <a:rPr lang="ru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выдаёт предсказание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440450" y="352425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Каждый нейрон (кроме входного) обычно имеет узел смещения, чтобы сдвигать функцию активации</a:t>
            </a:r>
            <a:r>
              <a:rPr lang="ru"/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xfrm>
            <a:off x="469050" y="396625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работает нейрон</a:t>
            </a:r>
            <a:endParaRPr/>
          </a:p>
        </p:txBody>
      </p:sp>
      <p:pic>
        <p:nvPicPr>
          <p:cNvPr id="279" name="Google Shape;279;p35" descr="Как устроена примитивная нейросеть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725" y="1291500"/>
            <a:ext cx="6195000" cy="294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775" y="2069375"/>
            <a:ext cx="2325950" cy="87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250" y="3379125"/>
            <a:ext cx="1540350" cy="5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>
            <a:spLocks noGrp="1"/>
          </p:cNvSpPr>
          <p:nvPr>
            <p:ph type="title"/>
          </p:nvPr>
        </p:nvSpPr>
        <p:spPr>
          <a:xfrm>
            <a:off x="819150" y="4674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Проблема: множество гипперпараметров</a:t>
            </a:r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body" idx="1"/>
          </p:nvPr>
        </p:nvSpPr>
        <p:spPr>
          <a:xfrm>
            <a:off x="819150" y="1194050"/>
            <a:ext cx="7505700" cy="3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Общие гиперпараметры сети: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Тип сети (MLP, ResNet, Shaped MLP и т.д.)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Оптимизатор (SGD, Adam и др.)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Learning rate и стратегия его изменения (Step, Exponential, Cosine Annealing и др.)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Batch size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Предобработка данных (нормализация, PCA и др.)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/>
              <a:t>Параметры отдельных слоёв: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Количество нейронов в слое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Функция активации 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Dropout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Использование residual блоков или shake-shake / shake-drop регуляризации</a:t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>
            <a:spLocks noGrp="1"/>
          </p:cNvSpPr>
          <p:nvPr>
            <p:ph type="title"/>
          </p:nvPr>
        </p:nvSpPr>
        <p:spPr>
          <a:xfrm>
            <a:off x="628600" y="497125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Auto-Net 1.0: первый шаг к автоматизации</a:t>
            </a:r>
            <a:endParaRPr/>
          </a:p>
        </p:txBody>
      </p:sp>
      <p:sp>
        <p:nvSpPr>
          <p:cNvPr id="293" name="Google Shape;293;p37"/>
          <p:cNvSpPr txBox="1">
            <a:spLocks noGrp="1"/>
          </p:cNvSpPr>
          <p:nvPr>
            <p:ph type="body" idx="1"/>
          </p:nvPr>
        </p:nvSpPr>
        <p:spPr>
          <a:xfrm>
            <a:off x="628600" y="1170500"/>
            <a:ext cx="7696200" cy="30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Основные особенности: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Базируется на Lasagne / Theano, использует fully-connected MLP.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Оптимизация гиперпараметров происходит через метод SMAC (Random-Forest-based Bayesian Optimization).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Может настраивать до 63 гиперпараметров, включая архитектуру сети и параметры обучения.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Ограничение числа слоёв: 1–6 для уменьшения времени обучения и сложности поиска.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Поддержка разных оптимизаторов: SGD, Momentum, Adam, Adagrad и др., каждый со своими настройками.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Используется слой bias, функции активации, dropout и регуляризация, как в обычных нейронных сетях.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title"/>
          </p:nvPr>
        </p:nvSpPr>
        <p:spPr>
          <a:xfrm>
            <a:off x="633300" y="427425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Auto-Net 2.0: современная автоматизация</a:t>
            </a:r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body" idx="1"/>
          </p:nvPr>
        </p:nvSpPr>
        <p:spPr>
          <a:xfrm>
            <a:off x="633300" y="1154025"/>
            <a:ext cx="8184600" cy="35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502" b="1"/>
              <a:t>Основные улучшения:</a:t>
            </a:r>
            <a:endParaRPr sz="1502" b="1"/>
          </a:p>
          <a:p>
            <a:pPr marL="457200" lvl="0" indent="-32400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3"/>
              <a:buAutoNum type="arabicPeriod"/>
            </a:pPr>
            <a:r>
              <a:rPr lang="ru" sz="1502"/>
              <a:t>Более широкий поисковый пространство, включая современные архитектуры (ResNet, Shaped MLP).</a:t>
            </a:r>
            <a:endParaRPr sz="1502"/>
          </a:p>
          <a:p>
            <a:pPr marL="457200" lvl="0" indent="-32400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AutoNum type="arabicPeriod"/>
            </a:pPr>
            <a:r>
              <a:rPr lang="ru" sz="1502"/>
              <a:t>Используется BOHB — комбинация Bayesian Optimization и HyperBand, что позволяет быстро находить хорошие конфигурации и завершать плохо работающие сети раньше.</a:t>
            </a:r>
            <a:endParaRPr sz="1502"/>
          </a:p>
          <a:p>
            <a:pPr marL="457200" lvl="0" indent="-32400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AutoNum type="arabicPeriod"/>
            </a:pPr>
            <a:r>
              <a:rPr lang="ru" sz="1502"/>
              <a:t>Поддержка современных оптимизаторов (Adam, SGD) и scheduler’ов для изменения learning rate в процессе обучения (Step, Exponential, Cosine Annealing, Cyclic и др.).</a:t>
            </a:r>
            <a:endParaRPr sz="1502"/>
          </a:p>
          <a:p>
            <a:pPr marL="457200" lvl="0" indent="-32400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AutoNum type="arabicPeriod"/>
            </a:pPr>
            <a:r>
              <a:rPr lang="ru" sz="1502"/>
              <a:t>Возможность выбора различных техник регуляризации и предварительной обработки данных.</a:t>
            </a:r>
            <a:endParaRPr sz="1502"/>
          </a:p>
          <a:p>
            <a:pPr marL="457200" lvl="0" indent="-32400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AutoNum type="arabicPeriod"/>
            </a:pPr>
            <a:r>
              <a:rPr lang="ru" sz="1502"/>
              <a:t>Auto-Net 2.0 рассчитан на масштабные данные и параллельное обучение на нескольких GPU.</a:t>
            </a:r>
            <a:endParaRPr sz="1502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703000" y="25320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Auto-Net 1.0 vs Auto-Net 2.0</a:t>
            </a:r>
            <a:endParaRPr/>
          </a:p>
        </p:txBody>
      </p:sp>
      <p:graphicFrame>
        <p:nvGraphicFramePr>
          <p:cNvPr id="305" name="Google Shape;305;p39"/>
          <p:cNvGraphicFramePr/>
          <p:nvPr/>
        </p:nvGraphicFramePr>
        <p:xfrm>
          <a:off x="836350" y="878175"/>
          <a:ext cx="7239000" cy="4007910"/>
        </p:xfrm>
        <a:graphic>
          <a:graphicData uri="http://schemas.openxmlformats.org/drawingml/2006/table">
            <a:tbl>
              <a:tblPr>
                <a:noFill/>
                <a:tableStyleId>{BC6F8CAB-F90A-4E2E-B4E0-71E10332FB00}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Характеристика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Auto-Net 1.0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Auto-Net 2.0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Библиотека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Lasagne/Theano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PyTorch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Типы сетей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Fully-connected MLP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MLP, ResNet, Shaped MLP/ResNet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Кол-во гиперпараметров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~63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112+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Метод поиска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SMAC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BOHB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Эффективность на больших данных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Средняя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Высокая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Параллельное обучение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Ограничено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GPU, несколько воркеров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Регуляризация и современные техники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базовая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dropout, shake-shake/shake-drop, scheduler’ы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000" y="2951825"/>
            <a:ext cx="6911400" cy="181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250" y="489250"/>
            <a:ext cx="7573499" cy="22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Tree-Based Pipeline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Optimization Tool (TPOT)</a:t>
            </a:r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latin typeface="Nunito"/>
                <a:ea typeface="Nunito"/>
                <a:cs typeface="Nunito"/>
                <a:sym typeface="Nunito"/>
              </a:rPr>
              <a:t>Автоматическое построение ML-пайплайнов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>
            <a:spLocks noGrp="1"/>
          </p:cNvSpPr>
          <p:nvPr>
            <p:ph type="title"/>
          </p:nvPr>
        </p:nvSpPr>
        <p:spPr>
          <a:xfrm>
            <a:off x="447450" y="4506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Генетическое программирование (GP) — основа TPOT</a:t>
            </a:r>
            <a:endParaRPr/>
          </a:p>
        </p:txBody>
      </p:sp>
      <p:sp>
        <p:nvSpPr>
          <p:cNvPr id="323" name="Google Shape;323;p42"/>
          <p:cNvSpPr txBox="1">
            <a:spLocks noGrp="1"/>
          </p:cNvSpPr>
          <p:nvPr>
            <p:ph type="body" idx="1"/>
          </p:nvPr>
        </p:nvSpPr>
        <p:spPr>
          <a:xfrm>
            <a:off x="599700" y="1723575"/>
            <a:ext cx="52923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Цель: </a:t>
            </a:r>
            <a:r>
              <a:rPr lang="ru" sz="1500"/>
              <a:t>автоматически создавать программы или структуры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/>
              <a:t>Представление решения:</a:t>
            </a:r>
            <a:r>
              <a:rPr lang="ru" sz="1500"/>
              <a:t> дерево операций/команд, где каждый узел — оператор или функция, а листья — входные данные или параметры.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/>
              <a:t>Примеры операторов: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Отбор: выбираем лучшие программы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Скрещивание: меняем поддеревья между программами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Мутация: добавляем, удаляем или заменяем узлы</a:t>
            </a:r>
            <a:endParaRPr sz="1500"/>
          </a:p>
        </p:txBody>
      </p:sp>
      <p:pic>
        <p:nvPicPr>
          <p:cNvPr id="324" name="Google Shape;32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2000" y="1238800"/>
            <a:ext cx="2929539" cy="36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>
            <a:spLocks noGrp="1"/>
          </p:cNvSpPr>
          <p:nvPr>
            <p:ph type="title"/>
          </p:nvPr>
        </p:nvSpPr>
        <p:spPr>
          <a:xfrm>
            <a:off x="575225" y="5784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ML Pipeline </a:t>
            </a:r>
            <a:endParaRPr/>
          </a:p>
        </p:txBody>
      </p:sp>
      <p:sp>
        <p:nvSpPr>
          <p:cNvPr id="330" name="Google Shape;330;p43"/>
          <p:cNvSpPr txBox="1">
            <a:spLocks noGrp="1"/>
          </p:cNvSpPr>
          <p:nvPr>
            <p:ph type="body" idx="1"/>
          </p:nvPr>
        </p:nvSpPr>
        <p:spPr>
          <a:xfrm>
            <a:off x="520475" y="1711950"/>
            <a:ext cx="4347900" cy="23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Предобработка данных</a:t>
            </a:r>
            <a:r>
              <a:rPr lang="ru" sz="1500"/>
              <a:t> — например, масштабирование признаков, заполнение пропусков, создание новых признаков.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Выбор признаков</a:t>
            </a:r>
            <a:r>
              <a:rPr lang="ru" sz="1500"/>
              <a:t> — выбираем наиболее информативные признаки, чтобы улучшить обучение и уменьшить сложность модели.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Модель </a:t>
            </a:r>
            <a:r>
              <a:rPr lang="ru" sz="1500"/>
              <a:t>— алгоритм машинного обучения, который делает прогнозы.</a:t>
            </a:r>
            <a:endParaRPr sz="1500"/>
          </a:p>
        </p:txBody>
      </p:sp>
      <p:pic>
        <p:nvPicPr>
          <p:cNvPr id="331" name="Google Shape;3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575" y="369644"/>
            <a:ext cx="3060151" cy="440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ТРОТ — что это и для чего нужен</a:t>
            </a:r>
            <a:endParaRPr/>
          </a:p>
        </p:txBody>
      </p:sp>
      <p:sp>
        <p:nvSpPr>
          <p:cNvPr id="337" name="Google Shape;337;p44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63144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587" b="1"/>
              <a:t>Цель:</a:t>
            </a:r>
            <a:r>
              <a:rPr lang="ru" sz="1587"/>
              <a:t> Найти комбинацию предобработки данных, выбора признаков и моделей, которая даст наилучшую точность на конкретном датасете.</a:t>
            </a: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587" b="1"/>
              <a:t>Особенность:</a:t>
            </a:r>
            <a:r>
              <a:rPr lang="ru" sz="1587"/>
              <a:t> не нужно вручную подбирать алгоритмы или параметры</a:t>
            </a: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ru" sz="1587"/>
              <a:t>Использует подход </a:t>
            </a:r>
            <a:r>
              <a:rPr lang="ru" sz="1587" b="1"/>
              <a:t>генетического программирования</a:t>
            </a:r>
            <a:r>
              <a:rPr lang="ru" sz="1587"/>
              <a:t>, чтобы эволюционно создавать пайплайны</a:t>
            </a:r>
            <a:endParaRPr sz="1587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>
            <a:spLocks noGrp="1"/>
          </p:cNvSpPr>
          <p:nvPr>
            <p:ph type="title"/>
          </p:nvPr>
        </p:nvSpPr>
        <p:spPr>
          <a:xfrm>
            <a:off x="437200" y="404175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ML-пайплайн в TPOT и как он работает</a:t>
            </a:r>
            <a:endParaRPr/>
          </a:p>
        </p:txBody>
      </p:sp>
      <p:pic>
        <p:nvPicPr>
          <p:cNvPr id="343" name="Google Shape;34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75" y="1072700"/>
            <a:ext cx="7451806" cy="38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Оптимизация пайплайнов в TPOT (GP-процесс)</a:t>
            </a:r>
            <a:endParaRPr/>
          </a:p>
        </p:txBody>
      </p:sp>
      <p:sp>
        <p:nvSpPr>
          <p:cNvPr id="349" name="Google Shape;349;p46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63144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940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88"/>
              <a:buAutoNum type="arabicPeriod"/>
            </a:pPr>
            <a:r>
              <a:rPr lang="ru" sz="1587"/>
              <a:t>Создание множества случайных пайплайнов (100).</a:t>
            </a:r>
            <a:endParaRPr sz="1587"/>
          </a:p>
          <a:p>
            <a:pPr marL="457200" lvl="0" indent="-32940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88"/>
              <a:buAutoNum type="arabicPeriod"/>
            </a:pPr>
            <a:r>
              <a:rPr lang="ru" sz="1587"/>
              <a:t>Оценка каждого пайплайна по точности на тренировочных данных.</a:t>
            </a:r>
            <a:endParaRPr sz="1587"/>
          </a:p>
          <a:p>
            <a:pPr marL="457200" lvl="0" indent="-32940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88"/>
              <a:buAutoNum type="arabicPeriod"/>
            </a:pPr>
            <a:r>
              <a:rPr lang="ru" sz="1587"/>
              <a:t>Отбор лучших пайплайнов по метрике точности и компактности (NSGA-II).</a:t>
            </a:r>
            <a:endParaRPr sz="1587"/>
          </a:p>
          <a:p>
            <a:pPr marL="457200" lvl="0" indent="-32940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88"/>
              <a:buAutoNum type="arabicPeriod"/>
            </a:pPr>
            <a:r>
              <a:rPr lang="ru" sz="1587"/>
              <a:t>Произведение потомков: часть подвергается скрещиванию (обмен поддеревьями) (5%), часть — мутации (случайные изменения узлов) (90%).</a:t>
            </a:r>
            <a:endParaRPr sz="1587"/>
          </a:p>
          <a:p>
            <a:pPr marL="457200" lvl="0" indent="-32940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88"/>
              <a:buAutoNum type="arabicPeriod"/>
            </a:pPr>
            <a:r>
              <a:rPr lang="ru" sz="1587"/>
              <a:t>Повтор несколько поколений (100) с обновлением Pareto-фронта и выбор лучшего пайплайна</a:t>
            </a: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587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>
            <a:spLocks noGrp="1"/>
          </p:cNvSpPr>
          <p:nvPr>
            <p:ph type="title"/>
          </p:nvPr>
        </p:nvSpPr>
        <p:spPr>
          <a:xfrm>
            <a:off x="389350" y="42370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использования TPOT</a:t>
            </a:r>
            <a:endParaRPr/>
          </a:p>
        </p:txBody>
      </p:sp>
      <p:pic>
        <p:nvPicPr>
          <p:cNvPr id="355" name="Google Shape;3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50" y="1082000"/>
            <a:ext cx="4913501" cy="35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851" y="1082000"/>
            <a:ext cx="3186861" cy="36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Automatic Statistician</a:t>
            </a:r>
            <a:endParaRPr/>
          </a:p>
        </p:txBody>
      </p:sp>
      <p:sp>
        <p:nvSpPr>
          <p:cNvPr id="362" name="Google Shape;362;p48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latin typeface="Nunito"/>
                <a:ea typeface="Nunito"/>
                <a:cs typeface="Nunito"/>
                <a:sym typeface="Nunito"/>
              </a:rPr>
              <a:t>Автоматическое объяснения результатов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Automatic Statistician: Автоматизация анализа данных</a:t>
            </a:r>
            <a:endParaRPr/>
          </a:p>
        </p:txBody>
      </p:sp>
      <p:sp>
        <p:nvSpPr>
          <p:cNvPr id="368" name="Google Shape;368;p49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7493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87" b="1"/>
              <a:t>Цель проекта</a:t>
            </a:r>
            <a:r>
              <a:rPr lang="ru" sz="1587"/>
              <a:t>: создать систему, которая автоматически строит модели, делает прогнозы и генерирует отчёты на понятном языке с минимальным вмешательством человека.</a:t>
            </a: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87" b="1"/>
              <a:t>Проблема текущего ML</a:t>
            </a:r>
            <a:r>
              <a:rPr lang="ru" sz="1587"/>
              <a:t>: большинство моделей — «чёрные ящики», сложно интерпретировать, доверять и использовать в критических сферах (медицина, юриспруденция, автопилоты).</a:t>
            </a: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87" b="1"/>
              <a:t>Особенность Automatic Statistician:</a:t>
            </a:r>
            <a:r>
              <a:rPr lang="ru" sz="1587"/>
              <a:t> модели интерпретируемы, позволяют объяснять данные и работать как с большими, так и с малыми наборами данных.</a:t>
            </a: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587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Automatic Statistician </a:t>
            </a:r>
            <a:endParaRPr/>
          </a:p>
        </p:txBody>
      </p:sp>
      <p:sp>
        <p:nvSpPr>
          <p:cNvPr id="374" name="Google Shape;374;p50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87" b="1"/>
              <a:t>Основные задачи системы:</a:t>
            </a:r>
            <a:endParaRPr sz="1687" b="1"/>
          </a:p>
          <a:p>
            <a:pPr marL="457200" lvl="0" indent="-335756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88"/>
              <a:buAutoNum type="arabicPeriod"/>
            </a:pPr>
            <a:r>
              <a:rPr lang="ru" sz="1687"/>
              <a:t>Автоматический выбор и преобразование признаков;</a:t>
            </a:r>
            <a:endParaRPr sz="1687"/>
          </a:p>
          <a:p>
            <a:pPr marL="457200" lvl="0" indent="-33575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88"/>
              <a:buAutoNum type="arabicPeriod"/>
            </a:pPr>
            <a:r>
              <a:rPr lang="ru" sz="1687"/>
              <a:t>Работа с «грязными» данными (пропуски, выбросы, разные типы признаков);</a:t>
            </a:r>
            <a:endParaRPr sz="1687"/>
          </a:p>
          <a:p>
            <a:pPr marL="457200" lvl="0" indent="-33575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88"/>
              <a:buAutoNum type="arabicPeriod"/>
            </a:pPr>
            <a:r>
              <a:rPr lang="ru" sz="1687"/>
              <a:t>Поиск хороших моделей без переобучения и недообучения;</a:t>
            </a:r>
            <a:endParaRPr sz="1687"/>
          </a:p>
          <a:p>
            <a:pPr marL="457200" lvl="0" indent="-33575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88"/>
              <a:buAutoNum type="arabicPeriod"/>
            </a:pPr>
            <a:r>
              <a:rPr lang="ru" sz="1687"/>
              <a:t>Объяснение закономерностей пользователю на человеческом языке;</a:t>
            </a:r>
            <a:endParaRPr sz="1687"/>
          </a:p>
          <a:p>
            <a:pPr marL="457200" lvl="0" indent="-335756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88"/>
              <a:buAutoNum type="arabicPeriod"/>
            </a:pPr>
            <a:r>
              <a:rPr lang="ru" sz="1687"/>
              <a:t>Эффективное использование ресурсов (время, память, объём данных).</a:t>
            </a:r>
            <a:endParaRPr sz="16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8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587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Процесс построения моделей и генерации отчётов</a:t>
            </a:r>
            <a:endParaRPr/>
          </a:p>
        </p:txBody>
      </p:sp>
      <p:pic>
        <p:nvPicPr>
          <p:cNvPr id="380" name="Google Shape;38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25" y="1778400"/>
            <a:ext cx="798195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Automatic Statistician для временных рядов</a:t>
            </a:r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Automatic Statistician можно настроить для разных задач и использовать разные типы моделей.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/>
              <a:t>Пример: </a:t>
            </a:r>
            <a:r>
              <a:rPr lang="ru" sz="1500"/>
              <a:t>ABCD (Automatic Bayesian Covariance Discovery) — система для одномерной регрессии (анализ временных рядов).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 b="1"/>
              <a:t>Идея: </a:t>
            </a:r>
            <a:r>
              <a:rPr lang="ru" sz="1500"/>
              <a:t>использовать гауссовские процессы (Gaussian Processes, GP), которые задают распределение функций. Параметры GP (среднее и ядро) определяют свойства функции, например: линейная, полиномиальная, периодическая или шум.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Грамматика ядер в ABCD</a:t>
            </a:r>
            <a:endParaRPr/>
          </a:p>
        </p:txBody>
      </p:sp>
      <p:sp>
        <p:nvSpPr>
          <p:cNvPr id="392" name="Google Shape;392;p53"/>
          <p:cNvSpPr txBox="1">
            <a:spLocks noGrp="1"/>
          </p:cNvSpPr>
          <p:nvPr>
            <p:ph type="body" idx="1"/>
          </p:nvPr>
        </p:nvSpPr>
        <p:spPr>
          <a:xfrm>
            <a:off x="749450" y="1417925"/>
            <a:ext cx="37254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b="1"/>
              <a:t>Базовые ядра: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C — константа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LIN — линейная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SE — гладкая функция (squared exponential)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PER — периодическая функция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WN — белый шум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/>
          </a:p>
        </p:txBody>
      </p:sp>
      <p:sp>
        <p:nvSpPr>
          <p:cNvPr id="393" name="Google Shape;393;p53"/>
          <p:cNvSpPr txBox="1"/>
          <p:nvPr/>
        </p:nvSpPr>
        <p:spPr>
          <a:xfrm>
            <a:off x="4474850" y="1417925"/>
            <a:ext cx="2889600" cy="18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Операторы: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— сложение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× — умножение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CP — точка изменения (change point)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3"/>
          <p:cNvSpPr txBox="1"/>
          <p:nvPr/>
        </p:nvSpPr>
        <p:spPr>
          <a:xfrm>
            <a:off x="749450" y="3484650"/>
            <a:ext cx="67851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Композиционность: </a:t>
            </a: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комбинации базовых ядер создают сложные модели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ru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Объяснимость:</a:t>
            </a: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комбинации можно описывать понятными словами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>
            <a:spLocks noGrp="1"/>
          </p:cNvSpPr>
          <p:nvPr>
            <p:ph type="title"/>
          </p:nvPr>
        </p:nvSpPr>
        <p:spPr>
          <a:xfrm>
            <a:off x="460475" y="41780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Поиск и оценка моделей в ABCD</a:t>
            </a:r>
            <a:endParaRPr/>
          </a:p>
        </p:txBody>
      </p:sp>
      <p:sp>
        <p:nvSpPr>
          <p:cNvPr id="400" name="Google Shape;400;p54"/>
          <p:cNvSpPr txBox="1">
            <a:spLocks noGrp="1"/>
          </p:cNvSpPr>
          <p:nvPr>
            <p:ph type="body" idx="1"/>
          </p:nvPr>
        </p:nvSpPr>
        <p:spPr>
          <a:xfrm>
            <a:off x="516725" y="991750"/>
            <a:ext cx="81426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b="1"/>
              <a:t>Цель: </a:t>
            </a:r>
            <a:r>
              <a:rPr lang="ru" sz="1400"/>
              <a:t>найти хорошо объяснимую модель, не обязательно глобально оптимальную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 b="1"/>
              <a:t>Жадный поиск: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На каждом шаге выбирается лучшая модель по BIC — баланс качества и сложности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Новые модели создаются добавлением, умножением или заменой ядер (Эволюция моделей)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1" name="Google Shape;40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74" y="2812149"/>
            <a:ext cx="7315949" cy="21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Перевод моделей в текст</a:t>
            </a:r>
            <a:endParaRPr/>
          </a:p>
        </p:txBody>
      </p:sp>
      <p:sp>
        <p:nvSpPr>
          <p:cNvPr id="407" name="Google Shape;407;p55"/>
          <p:cNvSpPr txBox="1">
            <a:spLocks noGrp="1"/>
          </p:cNvSpPr>
          <p:nvPr>
            <p:ph type="body" idx="1"/>
          </p:nvPr>
        </p:nvSpPr>
        <p:spPr>
          <a:xfrm>
            <a:off x="631725" y="1546600"/>
            <a:ext cx="44745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Модель переводится в каноническую форму (сумма произведений). Каждое ядро получает текстовое описание:</a:t>
            </a:r>
            <a:endParaRPr sz="140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PER → «периодическая функция»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SE → «гладкая функция»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LIN → «линейная функция»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WN → «некоррелированный шум»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C → «константа»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Полиномиальные ядра → «полиномиальная функция»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/>
          </a:p>
        </p:txBody>
      </p:sp>
      <p:sp>
        <p:nvSpPr>
          <p:cNvPr id="408" name="Google Shape;408;p55"/>
          <p:cNvSpPr txBox="1"/>
          <p:nvPr/>
        </p:nvSpPr>
        <p:spPr>
          <a:xfrm>
            <a:off x="5106225" y="1546588"/>
            <a:ext cx="3648300" cy="29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Другие ядра становятся модификаторами, которые уточняют основное ядро: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→ «форма плавно меняется»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 → «модулирована периодической функцией»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LIN → «с линейно меняющейся амплитудой»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ru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Change point (σ) → «действует с/до [точка изменения]»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6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и типы моделей Automatic Statistician</a:t>
            </a:r>
            <a:endParaRPr/>
          </a:p>
        </p:txBody>
      </p:sp>
      <p:sp>
        <p:nvSpPr>
          <p:cNvPr id="414" name="Google Shape;414;p56"/>
          <p:cNvSpPr txBox="1">
            <a:spLocks noGrp="1"/>
          </p:cNvSpPr>
          <p:nvPr>
            <p:ph type="body" idx="1"/>
          </p:nvPr>
        </p:nvSpPr>
        <p:spPr>
          <a:xfrm>
            <a:off x="745500" y="148215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Может работать с разными задачами: регрессия, классификация, одномерные и многомерные данные.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/>
              <a:t>Можно строить:</a:t>
            </a:r>
            <a:endParaRPr sz="1500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Отчёты с объяснениями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Прогнозы и предсказания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Автоматические решения на основе данных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ru" sz="1500"/>
              <a:t>Поддержка разных семей моделей (не только GP).</a:t>
            </a:r>
            <a:endParaRPr sz="1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компоненты системы</a:t>
            </a:r>
            <a:endParaRPr/>
          </a:p>
        </p:txBody>
      </p:sp>
      <p:sp>
        <p:nvSpPr>
          <p:cNvPr id="420" name="Google Shape;420;p57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Выбор моделей:</a:t>
            </a:r>
            <a:r>
              <a:rPr lang="ru" sz="1500"/>
              <a:t> какие модели стоит оценить, генерация новых моделей.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Оценка моделей:</a:t>
            </a:r>
            <a:r>
              <a:rPr lang="ru" sz="1500"/>
              <a:t> обучение на части данных и проверка на отложенной выборке.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Сравнение моделей:</a:t>
            </a:r>
            <a:r>
              <a:rPr lang="ru" sz="1500"/>
              <a:t> выбор лучших на основе критериев.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b="1"/>
              <a:t>Куратор отчёта:</a:t>
            </a:r>
            <a:r>
              <a:rPr lang="ru" sz="1500"/>
              <a:t> формирует итоговый отчёт с графиками, таблицами, описаниями.</a:t>
            </a:r>
            <a:endParaRPr sz="15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Взаимодействие с пользователем</a:t>
            </a:r>
            <a:endParaRPr/>
          </a:p>
        </p:txBody>
      </p:sp>
      <p:sp>
        <p:nvSpPr>
          <p:cNvPr id="426" name="Google Shape;426;p58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Пользователь может корректировать данные и типы переменных.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Можно выбрать интересующие части данных и игнорировать неважные.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Возможность выбирать семейство моделей.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Система может вести диалог с пользователем для объяснения результатов.</a:t>
            </a:r>
            <a:endParaRPr sz="15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пропусками и «грязными» данными</a:t>
            </a:r>
            <a:endParaRPr/>
          </a:p>
        </p:txBody>
      </p:sp>
      <p:sp>
        <p:nvSpPr>
          <p:cNvPr id="432" name="Google Shape;432;p59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dirty="0"/>
              <a:t>Автоматическое определение пропущенных или повреждённых данных.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dirty="0"/>
              <a:t>Поддержка моделей, которые могут работать с пропусками напрямую.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 dirty="0"/>
              <a:t>При необходимости — импутация данных: MissForest, mice, KNNimpute, Bayesian подходы.</a:t>
            </a:r>
            <a:endParaRPr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0"/>
          <p:cNvSpPr txBox="1">
            <a:spLocks noGrp="1"/>
          </p:cNvSpPr>
          <p:nvPr>
            <p:ph type="title"/>
          </p:nvPr>
        </p:nvSpPr>
        <p:spPr>
          <a:xfrm>
            <a:off x="749450" y="621150"/>
            <a:ext cx="75057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Управление ресурсами</a:t>
            </a:r>
            <a:endParaRPr/>
          </a:p>
        </p:txBody>
      </p:sp>
      <p:sp>
        <p:nvSpPr>
          <p:cNvPr id="438" name="Google Shape;438;p60"/>
          <p:cNvSpPr txBox="1">
            <a:spLocks noGrp="1"/>
          </p:cNvSpPr>
          <p:nvPr>
            <p:ph type="body" idx="1"/>
          </p:nvPr>
        </p:nvSpPr>
        <p:spPr>
          <a:xfrm>
            <a:off x="749450" y="1696200"/>
            <a:ext cx="76530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Ограничения CPU, памяти, времени.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Выбор моделей, которые обещают наибольшую пользу при текущих ресурсах.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Постепенная оценка моделей на подвыборках.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Использование Freeze-thaw Bayesian optimisation для оптимизации ресурсов.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1414</Words>
  <Application>Microsoft Office PowerPoint</Application>
  <PresentationFormat>Экран (16:9)</PresentationFormat>
  <Paragraphs>210</Paragraphs>
  <Slides>48</Slides>
  <Notes>48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2" baseType="lpstr">
      <vt:lpstr>Nunito</vt:lpstr>
      <vt:lpstr>Calibri</vt:lpstr>
      <vt:lpstr>Arial</vt:lpstr>
      <vt:lpstr>Shift</vt:lpstr>
      <vt:lpstr>AutoML System</vt:lpstr>
      <vt:lpstr>Введение</vt:lpstr>
      <vt:lpstr>Auto-Weka</vt:lpstr>
      <vt:lpstr>Combined Algorithm Selection and Hyperparameter Optimization (Cash)</vt:lpstr>
      <vt:lpstr>Sequential Model-based Algorithm Configuration (SMAC)</vt:lpstr>
      <vt:lpstr>Auto-Weka</vt:lpstr>
      <vt:lpstr>Эксперименты и Результаты</vt:lpstr>
      <vt:lpstr>Hyperopt-Sklearn</vt:lpstr>
      <vt:lpstr>Hyperopt для оптимизации</vt:lpstr>
      <vt:lpstr>Пространство поиска</vt:lpstr>
      <vt:lpstr>Пример</vt:lpstr>
      <vt:lpstr>Пример</vt:lpstr>
      <vt:lpstr>Результаты</vt:lpstr>
      <vt:lpstr>Auto-sklearn</vt:lpstr>
      <vt:lpstr>Повышение эффективности</vt:lpstr>
      <vt:lpstr>Практическая система</vt:lpstr>
      <vt:lpstr>Сравнение</vt:lpstr>
      <vt:lpstr>Сравнение с базовым auto-sklearn</vt:lpstr>
      <vt:lpstr>Пример </vt:lpstr>
      <vt:lpstr>Следующий шаг развития AutoML</vt:lpstr>
      <vt:lpstr>Auto-Net </vt:lpstr>
      <vt:lpstr>Нейросеть</vt:lpstr>
      <vt:lpstr>Как работает нейрон</vt:lpstr>
      <vt:lpstr>Проблема: множество гипперпараметров</vt:lpstr>
      <vt:lpstr>Auto-Net 1.0: первый шаг к автоматизации</vt:lpstr>
      <vt:lpstr>Auto-Net 2.0: современная автоматизация</vt:lpstr>
      <vt:lpstr>Auto-Net 1.0 vs Auto-Net 2.0</vt:lpstr>
      <vt:lpstr>Презентация PowerPoint</vt:lpstr>
      <vt:lpstr>Tree-Based Pipeline Optimization Tool (TPOT)</vt:lpstr>
      <vt:lpstr>Генетическое программирование (GP) — основа TPOT</vt:lpstr>
      <vt:lpstr>ML Pipeline </vt:lpstr>
      <vt:lpstr>ТРОТ — что это и для чего нужен</vt:lpstr>
      <vt:lpstr>ML-пайплайн в TPOT и как он работает</vt:lpstr>
      <vt:lpstr>Оптимизация пайплайнов в TPOT (GP-процесс)</vt:lpstr>
      <vt:lpstr>Пример использования TPOT</vt:lpstr>
      <vt:lpstr>Automatic Statistician</vt:lpstr>
      <vt:lpstr>Automatic Statistician: Автоматизация анализа данных</vt:lpstr>
      <vt:lpstr>Задачи Automatic Statistician </vt:lpstr>
      <vt:lpstr>Процесс построения моделей и генерации отчётов</vt:lpstr>
      <vt:lpstr>Automatic Statistician для временных рядов</vt:lpstr>
      <vt:lpstr>Грамматика ядер в ABCD</vt:lpstr>
      <vt:lpstr>Поиск и оценка моделей в ABCD</vt:lpstr>
      <vt:lpstr>Перевод моделей в текст</vt:lpstr>
      <vt:lpstr>Цели и типы моделей Automatic Statistician</vt:lpstr>
      <vt:lpstr>Ключевые компоненты системы</vt:lpstr>
      <vt:lpstr>Взаимодействие с пользователем</vt:lpstr>
      <vt:lpstr>Работа с пропусками и «грязными» данными</vt:lpstr>
      <vt:lpstr>Управление ресурсами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 System</dc:title>
  <cp:lastModifiedBy>Алексей Шаврин</cp:lastModifiedBy>
  <cp:revision>3</cp:revision>
  <dcterms:modified xsi:type="dcterms:W3CDTF">2025-12-16T06:55:56Z</dcterms:modified>
</cp:coreProperties>
</file>