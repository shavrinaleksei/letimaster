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9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35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6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36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08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66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87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28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93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38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02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484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00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69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00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601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51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1626E-9B6E-4B1B-9B4C-FC417CF0044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8DB8FA0-A856-4D6A-AC54-733C5DDE6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2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FA701-F3CF-49B8-8C11-CE134481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310" y="2133600"/>
            <a:ext cx="9010650" cy="2869736"/>
          </a:xfrm>
        </p:spPr>
        <p:txBody>
          <a:bodyPr/>
          <a:lstStyle/>
          <a:p>
            <a:pPr algn="ctr"/>
            <a:r>
              <a:rPr lang="ru-RU" sz="4400" b="1" dirty="0"/>
              <a:t>Автоматизированное машинное обучение: AI-управляемое принятие решений в бизнес-аналитике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42A053-0BE2-4DD1-B49B-4342A32F9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167" y="5279558"/>
            <a:ext cx="7766936" cy="1096899"/>
          </a:xfrm>
        </p:spPr>
        <p:txBody>
          <a:bodyPr/>
          <a:lstStyle/>
          <a:p>
            <a:pPr algn="l"/>
            <a:r>
              <a:rPr lang="ru-RU" dirty="0"/>
              <a:t>Работу выполнил: Шаврин Алексей</a:t>
            </a:r>
          </a:p>
        </p:txBody>
      </p:sp>
    </p:spTree>
    <p:extLst>
      <p:ext uri="{BB962C8B-B14F-4D97-AF65-F5344CB8AC3E}">
        <p14:creationId xmlns:p14="http://schemas.microsoft.com/office/powerpoint/2010/main" val="176100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D7649-22D4-4C1A-B93D-347866AB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772FA0-EDF2-4AB6-862E-17CA7970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1679025"/>
            <a:ext cx="7144747" cy="3943900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7D179657-6B47-4910-8AAE-C6337B941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928" y="1679025"/>
            <a:ext cx="4401547" cy="4640262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Проблема</a:t>
            </a:r>
            <a:r>
              <a:rPr lang="ru-RU" dirty="0"/>
              <a:t>: Острый дефицит ML-экспертов при растущем спросе на аналитику (в 30 раз за 10 лет и ы 2,5 раза за последние 4 года)</a:t>
            </a:r>
          </a:p>
          <a:p>
            <a:r>
              <a:rPr lang="ru-RU" b="1" dirty="0"/>
              <a:t>Решение</a:t>
            </a:r>
            <a:r>
              <a:rPr lang="ru-RU" dirty="0"/>
              <a:t>: </a:t>
            </a:r>
            <a:r>
              <a:rPr lang="ru-RU" dirty="0" err="1"/>
              <a:t>AutoML</a:t>
            </a:r>
            <a:r>
              <a:rPr lang="ru-RU" dirty="0"/>
              <a:t> - автоматизация полного цикла машинного обучения</a:t>
            </a:r>
          </a:p>
          <a:p>
            <a:r>
              <a:rPr lang="ru-RU" b="1" dirty="0"/>
              <a:t>Цель исследования </a:t>
            </a:r>
            <a:r>
              <a:rPr lang="ru-RU" dirty="0"/>
              <a:t>— проверить, имеют ли готовые фреймворки </a:t>
            </a:r>
            <a:r>
              <a:rPr lang="ru-RU" dirty="0" err="1"/>
              <a:t>AutoML</a:t>
            </a:r>
            <a:r>
              <a:rPr lang="ru-RU" dirty="0"/>
              <a:t> схожую производительность и/или могут ли превзойти модели МО, обученные вручную</a:t>
            </a:r>
          </a:p>
          <a:p>
            <a:r>
              <a:rPr lang="ru-RU" b="1" dirty="0"/>
              <a:t>Исследование</a:t>
            </a:r>
            <a:r>
              <a:rPr lang="ru-RU" dirty="0"/>
              <a:t>: Сравнение H2O </a:t>
            </a:r>
            <a:r>
              <a:rPr lang="ru-RU" dirty="0" err="1"/>
              <a:t>AutoML</a:t>
            </a:r>
            <a:r>
              <a:rPr lang="ru-RU" dirty="0"/>
              <a:t> с ручной настройки моделей</a:t>
            </a:r>
          </a:p>
          <a:p>
            <a:r>
              <a:rPr lang="ru-RU" b="1" dirty="0"/>
              <a:t>Данные</a:t>
            </a:r>
            <a:r>
              <a:rPr lang="ru-RU" dirty="0"/>
              <a:t>: 3 реальных </a:t>
            </a:r>
            <a:r>
              <a:rPr lang="ru-RU" dirty="0" err="1"/>
              <a:t>датасета</a:t>
            </a:r>
            <a:r>
              <a:rPr lang="ru-RU" dirty="0"/>
              <a:t> (кредитный риск, страхование, маркетинг)</a:t>
            </a:r>
          </a:p>
          <a:p>
            <a:r>
              <a:rPr lang="ru-RU" b="1" dirty="0"/>
              <a:t>Метрики</a:t>
            </a:r>
            <a:r>
              <a:rPr lang="ru-RU" dirty="0"/>
              <a:t>: AUC, </a:t>
            </a:r>
            <a:r>
              <a:rPr lang="ru-RU" dirty="0" err="1"/>
              <a:t>Accuracy</a:t>
            </a:r>
            <a:r>
              <a:rPr lang="ru-RU" dirty="0"/>
              <a:t>, F-</a:t>
            </a:r>
            <a:r>
              <a:rPr lang="ru-RU" dirty="0" err="1"/>
              <a:t>score</a:t>
            </a:r>
            <a:r>
              <a:rPr lang="ru-RU" dirty="0"/>
              <a:t>, </a:t>
            </a:r>
            <a:r>
              <a:rPr lang="ru-RU" dirty="0" err="1"/>
              <a:t>LogLoss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720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F2C29-2FC2-4B59-AAF8-2D1C6747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</a:t>
            </a:r>
            <a:r>
              <a:rPr lang="en-US" dirty="0" err="1"/>
              <a:t>AutoML</a:t>
            </a:r>
            <a:r>
              <a:rPr lang="en-US" dirty="0"/>
              <a:t> </a:t>
            </a:r>
            <a:r>
              <a:rPr lang="ru-RU" dirty="0"/>
              <a:t>решений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27251AB-E1D9-4581-A056-4AB2A99D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97" y="3429000"/>
            <a:ext cx="5896427" cy="2819400"/>
          </a:xfrm>
        </p:spPr>
        <p:txBody>
          <a:bodyPr>
            <a:normAutofit/>
          </a:bodyPr>
          <a:lstStyle/>
          <a:p>
            <a:r>
              <a:rPr lang="ru-RU" dirty="0"/>
              <a:t>Auto-WEKA показал худшие результаты среди протестированных систем.</a:t>
            </a:r>
          </a:p>
          <a:p>
            <a:r>
              <a:rPr lang="ru-RU" dirty="0"/>
              <a:t>Разрыв в производительности между различными инструментами </a:t>
            </a:r>
            <a:r>
              <a:rPr lang="ru-RU" dirty="0" err="1"/>
              <a:t>AutoML</a:t>
            </a:r>
            <a:r>
              <a:rPr lang="ru-RU" dirty="0"/>
              <a:t> значительно варьировался в зависимости от задачи.</a:t>
            </a:r>
          </a:p>
          <a:p>
            <a:r>
              <a:rPr lang="ru-RU" dirty="0"/>
              <a:t>Некоторые инструменты </a:t>
            </a:r>
            <a:r>
              <a:rPr lang="ru-RU" dirty="0" err="1"/>
              <a:t>AutoML</a:t>
            </a:r>
            <a:r>
              <a:rPr lang="ru-RU" dirty="0"/>
              <a:t> показывают лучшие результаты на определенных </a:t>
            </a:r>
            <a:r>
              <a:rPr lang="ru-RU" dirty="0" err="1"/>
              <a:t>датасетах</a:t>
            </a:r>
            <a:r>
              <a:rPr lang="ru-RU" dirty="0"/>
              <a:t>, в то время как другие отставали, особенно в </a:t>
            </a:r>
            <a:r>
              <a:rPr lang="ru-RU" dirty="0" err="1"/>
              <a:t>многоклассовых</a:t>
            </a:r>
            <a:r>
              <a:rPr lang="ru-RU" dirty="0"/>
              <a:t> задачах.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D91517-2B82-4227-A014-7EA9FFEC8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7" y="1419225"/>
            <a:ext cx="6241940" cy="15779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1CBF15-6C6A-4399-BCE2-23997229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4" y="554747"/>
            <a:ext cx="5677692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F2C29-2FC2-4B59-AAF8-2D1C6747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</a:t>
            </a:r>
            <a:r>
              <a:rPr lang="en-US" dirty="0" err="1"/>
              <a:t>AutoML</a:t>
            </a:r>
            <a:r>
              <a:rPr lang="en-US" dirty="0"/>
              <a:t> </a:t>
            </a:r>
            <a:r>
              <a:rPr lang="ru-RU" dirty="0"/>
              <a:t>решений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27251AB-E1D9-4581-A056-4AB2A99D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88" y="1542393"/>
            <a:ext cx="3568386" cy="556654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H2O-DriverlessAI и Auto-</a:t>
            </a:r>
            <a:r>
              <a:rPr lang="ru-RU" dirty="0" err="1"/>
              <a:t>sklearn</a:t>
            </a:r>
            <a:r>
              <a:rPr lang="ru-RU" dirty="0"/>
              <a:t> — отличные результаты в классификации и регрессии.</a:t>
            </a:r>
          </a:p>
          <a:p>
            <a:r>
              <a:rPr lang="ru-RU" dirty="0"/>
              <a:t>H2O-AutoML — быстрее достигает оптимальных результатов.</a:t>
            </a:r>
          </a:p>
          <a:p>
            <a:r>
              <a:rPr lang="ru-RU" dirty="0"/>
              <a:t>Метрики </a:t>
            </a:r>
            <a:r>
              <a:rPr lang="ru-RU" dirty="0" err="1"/>
              <a:t>оценки:Точность</a:t>
            </a:r>
            <a:r>
              <a:rPr lang="ru-RU" dirty="0"/>
              <a:t> (</a:t>
            </a:r>
            <a:r>
              <a:rPr lang="ru-RU" dirty="0" err="1"/>
              <a:t>Accuracy</a:t>
            </a:r>
            <a:r>
              <a:rPr lang="ru-RU" dirty="0"/>
              <a:t>) для классификации и MSE для регрессии.</a:t>
            </a:r>
          </a:p>
          <a:p>
            <a:r>
              <a:rPr lang="ru-RU" dirty="0"/>
              <a:t>Результаты: H2O-AutoML и </a:t>
            </a:r>
            <a:r>
              <a:rPr lang="ru-RU" dirty="0" err="1"/>
              <a:t>Darwin</a:t>
            </a:r>
            <a:r>
              <a:rPr lang="ru-RU" dirty="0"/>
              <a:t> — лучшие для бинарной классификации, а Auto-</a:t>
            </a:r>
            <a:r>
              <a:rPr lang="ru-RU" dirty="0" err="1"/>
              <a:t>keras</a:t>
            </a:r>
            <a:r>
              <a:rPr lang="ru-RU" dirty="0"/>
              <a:t> и H2O-AutoML — лучшие для </a:t>
            </a:r>
            <a:r>
              <a:rPr lang="ru-RU" dirty="0" err="1"/>
              <a:t>многоклассовой</a:t>
            </a:r>
            <a:r>
              <a:rPr lang="ru-RU" dirty="0"/>
              <a:t> классификации и регрессии.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7A8642-3013-4EF9-9168-78557ED00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093" y="1542393"/>
            <a:ext cx="8287907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2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C36D-8202-4DB7-B46E-53B6E97F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 </a:t>
            </a:r>
            <a:r>
              <a:rPr lang="en-US" dirty="0" err="1"/>
              <a:t>AutoML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C66EF-39A6-410B-83AD-AB5BF94A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74" y="1672909"/>
            <a:ext cx="6439746" cy="4880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Фреймворк для автоматического ML</a:t>
            </a:r>
          </a:p>
          <a:p>
            <a:r>
              <a:rPr lang="ru-RU" dirty="0"/>
              <a:t>Для пользователей БЕЗ глубоких знаний ML</a:t>
            </a:r>
          </a:p>
          <a:p>
            <a:r>
              <a:rPr lang="ru-RU" dirty="0"/>
              <a:t>Автоматизирует ключевые этапы: Выбор алгоритма, Настройку </a:t>
            </a:r>
            <a:r>
              <a:rPr lang="ru-RU" dirty="0" err="1"/>
              <a:t>гиперпараметров</a:t>
            </a:r>
            <a:r>
              <a:rPr lang="ru-RU" dirty="0"/>
              <a:t>, Сравнение моделей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Преимущества:</a:t>
            </a:r>
          </a:p>
          <a:p>
            <a:r>
              <a:rPr lang="ru-RU" dirty="0"/>
              <a:t>Быстрое прототипирование</a:t>
            </a:r>
          </a:p>
          <a:p>
            <a:r>
              <a:rPr lang="ru-RU" dirty="0"/>
              <a:t>Простота использования</a:t>
            </a:r>
          </a:p>
          <a:p>
            <a:r>
              <a:rPr lang="ru-RU" dirty="0"/>
              <a:t>Промышленная надежность</a:t>
            </a:r>
          </a:p>
          <a:p>
            <a:r>
              <a:rPr lang="ru-RU" dirty="0"/>
              <a:t>Масштабируемость</a:t>
            </a:r>
          </a:p>
          <a:p>
            <a:r>
              <a:rPr lang="ru-RU" dirty="0"/>
              <a:t>Open-</a:t>
            </a:r>
            <a:r>
              <a:rPr lang="ru-RU" dirty="0" err="1"/>
              <a:t>source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ABF12A-0774-4A60-A941-451A0D3F9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930" y="175675"/>
            <a:ext cx="1885950" cy="2032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F40DBA-A8FF-45E1-B74F-351BD6967898}"/>
              </a:ext>
            </a:extLst>
          </p:cNvPr>
          <p:cNvSpPr txBox="1"/>
          <p:nvPr/>
        </p:nvSpPr>
        <p:spPr>
          <a:xfrm>
            <a:off x="4298932" y="3527119"/>
            <a:ext cx="5880136" cy="32060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Промышленные возможности H2O: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In-Memory распределенные вычисления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Fault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Tolerance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устойчивость к сбоям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Масштабируемость на кластерах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Поддержка больших данных (миллиарды строк)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Интеграция с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Hadoop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/Spark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Мониторинг и логирование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REST API для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production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62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15D9C-6F8F-4AEE-84FE-03E81B89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904066" cy="1320800"/>
          </a:xfrm>
        </p:spPr>
        <p:txBody>
          <a:bodyPr/>
          <a:lstStyle/>
          <a:p>
            <a:r>
              <a:rPr lang="en-US" dirty="0"/>
              <a:t>H2O </a:t>
            </a:r>
            <a:r>
              <a:rPr lang="ru-RU" dirty="0"/>
              <a:t>Архитектура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F08DAA5-14F4-42A8-A3FC-327EB7E0B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934" y="363241"/>
            <a:ext cx="4610946" cy="6151850"/>
          </a:xfrm>
        </p:spPr>
      </p:pic>
    </p:spTree>
    <p:extLst>
      <p:ext uri="{BB962C8B-B14F-4D97-AF65-F5344CB8AC3E}">
        <p14:creationId xmlns:p14="http://schemas.microsoft.com/office/powerpoint/2010/main" val="410271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15D9C-6F8F-4AEE-84FE-03E81B89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674186" cy="1320800"/>
          </a:xfrm>
        </p:spPr>
        <p:txBody>
          <a:bodyPr>
            <a:normAutofit/>
          </a:bodyPr>
          <a:lstStyle/>
          <a:p>
            <a:r>
              <a:rPr lang="en-US" dirty="0"/>
              <a:t>H2O </a:t>
            </a:r>
            <a:r>
              <a:rPr lang="ru-RU" dirty="0"/>
              <a:t>масштабируемость на кластерах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1476653-4E40-45C9-98DD-42B851F5A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2" y="2067401"/>
            <a:ext cx="5714998" cy="3881437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2B02A4-10BA-4EDE-8D01-F8EAB33DA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62" y="2225040"/>
            <a:ext cx="528674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5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CDBDA-5D66-4F3D-8AD3-DC8A0B9B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 </a:t>
            </a:r>
            <a:r>
              <a:rPr lang="en-US" dirty="0" err="1"/>
              <a:t>AutoML</a:t>
            </a:r>
            <a:r>
              <a:rPr lang="en-US" dirty="0"/>
              <a:t>. </a:t>
            </a:r>
            <a:r>
              <a:rPr lang="ru-RU" dirty="0"/>
              <a:t>Алгоритм работы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81F407-E029-433E-AE69-E4698590B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57076"/>
            <a:ext cx="8623367" cy="444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4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CDBDA-5D66-4F3D-8AD3-DC8A0B9B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 </a:t>
            </a:r>
            <a:r>
              <a:rPr lang="en-US" dirty="0" err="1"/>
              <a:t>AutoML</a:t>
            </a:r>
            <a:r>
              <a:rPr lang="en-US" dirty="0"/>
              <a:t>. </a:t>
            </a:r>
            <a:r>
              <a:rPr lang="ru-RU" dirty="0"/>
              <a:t>Алгоритм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072041-56AC-4835-914E-84E97EE89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954"/>
            <a:ext cx="12192000" cy="516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10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DC41D-B27F-4932-97B1-64FBF542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делается в статье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467D5-2990-4210-B752-A615A0A62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5269"/>
            <a:ext cx="6744546" cy="44992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b="1" dirty="0"/>
              <a:t>Сравнение</a:t>
            </a:r>
            <a:r>
              <a:rPr lang="ru-RU" sz="2000" dirty="0"/>
              <a:t>:</a:t>
            </a:r>
          </a:p>
          <a:p>
            <a:r>
              <a:rPr lang="ru-RU" sz="2000" dirty="0"/>
              <a:t>H2O </a:t>
            </a:r>
            <a:r>
              <a:rPr lang="ru-RU" sz="2000" dirty="0" err="1"/>
              <a:t>AutoML</a:t>
            </a:r>
            <a:r>
              <a:rPr lang="ru-RU" sz="2000" dirty="0"/>
              <a:t> </a:t>
            </a:r>
            <a:r>
              <a:rPr lang="ru-RU" sz="2000" dirty="0" err="1"/>
              <a:t>vs</a:t>
            </a:r>
            <a:r>
              <a:rPr lang="ru-RU" sz="2000" dirty="0"/>
              <a:t> Ручная настройка </a:t>
            </a:r>
            <a:r>
              <a:rPr lang="ru-RU" sz="2000" dirty="0" err="1"/>
              <a:t>stacked</a:t>
            </a:r>
            <a:r>
              <a:rPr lang="ru-RU" sz="2000" dirty="0"/>
              <a:t> </a:t>
            </a:r>
            <a:r>
              <a:rPr lang="ru-RU" sz="2000" dirty="0" err="1"/>
              <a:t>ensemble</a:t>
            </a:r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Используемый подход</a:t>
            </a:r>
            <a:r>
              <a:rPr lang="ru-RU" sz="2000" dirty="0"/>
              <a:t>:</a:t>
            </a:r>
          </a:p>
          <a:p>
            <a:r>
              <a:rPr lang="ru-RU" sz="2000" dirty="0"/>
              <a:t>Воссоздание архитектуры H2O </a:t>
            </a:r>
            <a:r>
              <a:rPr lang="ru-RU" sz="2000" dirty="0" err="1"/>
              <a:t>AutoML</a:t>
            </a:r>
            <a:r>
              <a:rPr lang="ru-RU" sz="2000" dirty="0"/>
              <a:t> вручную</a:t>
            </a:r>
          </a:p>
          <a:p>
            <a:r>
              <a:rPr lang="ru-RU" sz="2000" dirty="0"/>
              <a:t>Тщательная настройка </a:t>
            </a:r>
            <a:r>
              <a:rPr lang="ru-RU" sz="2000" dirty="0" err="1"/>
              <a:t>гиперпараметров</a:t>
            </a:r>
            <a:endParaRPr lang="ru-RU" sz="2000" dirty="0"/>
          </a:p>
          <a:p>
            <a:r>
              <a:rPr lang="ru-RU" sz="2000" dirty="0"/>
              <a:t>Использование метода </a:t>
            </a:r>
            <a:r>
              <a:rPr lang="ru-RU" sz="2000" dirty="0" err="1"/>
              <a:t>стекинга</a:t>
            </a:r>
            <a:r>
              <a:rPr lang="ru-RU" sz="2000" dirty="0"/>
              <a:t> для обоих подходов</a:t>
            </a:r>
          </a:p>
          <a:p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Оценка</a:t>
            </a:r>
            <a:r>
              <a:rPr lang="ru-RU" sz="2000" dirty="0"/>
              <a:t>:</a:t>
            </a:r>
          </a:p>
          <a:p>
            <a:r>
              <a:rPr lang="ru-RU" sz="2000" dirty="0"/>
              <a:t>Четыре метрики качества</a:t>
            </a:r>
          </a:p>
          <a:p>
            <a:r>
              <a:rPr lang="ru-RU" sz="2000" dirty="0"/>
              <a:t>Три различных бизнес-домена</a:t>
            </a:r>
          </a:p>
          <a:p>
            <a:r>
              <a:rPr lang="ru-RU" sz="2000" dirty="0"/>
              <a:t>Статистическая значимость результатов</a:t>
            </a:r>
          </a:p>
        </p:txBody>
      </p:sp>
    </p:spTree>
    <p:extLst>
      <p:ext uri="{BB962C8B-B14F-4D97-AF65-F5344CB8AC3E}">
        <p14:creationId xmlns:p14="http://schemas.microsoft.com/office/powerpoint/2010/main" val="50936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2A374-7B28-44B2-A049-C6915920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 данных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086CAE-D037-4FB0-A88F-19B0791C0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" y="1930400"/>
            <a:ext cx="12187215" cy="211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76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56050-5022-4913-88E6-FB293AE6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Предобработка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4B45B-A284-4B35-874D-B21CBD93C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89"/>
            <a:ext cx="9259146" cy="46974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Балансировка:</a:t>
            </a:r>
          </a:p>
          <a:p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Undersampling</a:t>
            </a:r>
            <a:r>
              <a:rPr lang="ru-RU" dirty="0"/>
              <a:t> - удаление части </a:t>
            </a:r>
            <a:r>
              <a:rPr lang="ru-RU" dirty="0" err="1"/>
              <a:t>majority</a:t>
            </a:r>
            <a:r>
              <a:rPr lang="ru-RU" dirty="0"/>
              <a:t> </a:t>
            </a:r>
            <a:r>
              <a:rPr lang="ru-RU" dirty="0" err="1"/>
              <a:t>class</a:t>
            </a:r>
            <a:endParaRPr lang="ru-RU" dirty="0"/>
          </a:p>
          <a:p>
            <a:pPr lvl="1"/>
            <a:r>
              <a:rPr lang="ru-RU" dirty="0"/>
              <a:t>Цель: устранение смещения моделей к частому классу</a:t>
            </a:r>
          </a:p>
          <a:p>
            <a:pPr lvl="1"/>
            <a:r>
              <a:rPr lang="ru-RU" dirty="0"/>
              <a:t>Результат: баланс 50/50 для честного сравнения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Кодирование признаков:</a:t>
            </a:r>
          </a:p>
          <a:p>
            <a:r>
              <a:rPr lang="ru-RU" dirty="0"/>
              <a:t>One-Hot </a:t>
            </a:r>
            <a:r>
              <a:rPr lang="ru-RU" dirty="0" err="1"/>
              <a:t>Encoding</a:t>
            </a:r>
            <a:r>
              <a:rPr lang="ru-RU" dirty="0"/>
              <a:t> для категориальных данных (Пример: "Город" → "Москва=1, СПб=0", "СПб=1, Москва=0)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Разделение данных:</a:t>
            </a:r>
          </a:p>
          <a:p>
            <a:r>
              <a:rPr lang="ru-RU" dirty="0"/>
              <a:t>80% - обучение моделей</a:t>
            </a:r>
          </a:p>
          <a:p>
            <a:r>
              <a:rPr lang="ru-RU" dirty="0"/>
              <a:t>20% - финальное тестирование</a:t>
            </a:r>
          </a:p>
          <a:p>
            <a:r>
              <a:rPr lang="ru-RU" dirty="0"/>
              <a:t>Кросс-валидация на тренировочной части</a:t>
            </a:r>
          </a:p>
        </p:txBody>
      </p:sp>
    </p:spTree>
    <p:extLst>
      <p:ext uri="{BB962C8B-B14F-4D97-AF65-F5344CB8AC3E}">
        <p14:creationId xmlns:p14="http://schemas.microsoft.com/office/powerpoint/2010/main" val="1882099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5E8E8-8666-4CBB-8937-7A4282AF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оценки качества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FD728C-014A-47CF-B34A-4685657DF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609" y="1550989"/>
            <a:ext cx="5891106" cy="3376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AUC (Area </a:t>
            </a:r>
            <a:r>
              <a:rPr lang="ru-RU" sz="2000" b="1" dirty="0" err="1"/>
              <a:t>Under</a:t>
            </a:r>
            <a:r>
              <a:rPr lang="ru-RU" sz="2000" b="1" dirty="0"/>
              <a:t> </a:t>
            </a:r>
            <a:r>
              <a:rPr lang="ru-RU" sz="2000" b="1" dirty="0" err="1"/>
              <a:t>Curve</a:t>
            </a:r>
            <a:r>
              <a:rPr lang="ru-RU" sz="2000" b="1" dirty="0"/>
              <a:t>) </a:t>
            </a:r>
          </a:p>
          <a:p>
            <a:r>
              <a:rPr lang="ru-RU" sz="2000" dirty="0"/>
              <a:t>Способность модели разделять классы</a:t>
            </a:r>
          </a:p>
          <a:p>
            <a:r>
              <a:rPr lang="ru-RU" sz="2000" dirty="0"/>
              <a:t>Значение от 0 до 1 (чем больше - тем лучше)</a:t>
            </a:r>
          </a:p>
          <a:p>
            <a:endParaRPr lang="ru-RU" sz="2000" dirty="0"/>
          </a:p>
          <a:p>
            <a:pPr marL="0" indent="0">
              <a:buNone/>
            </a:pPr>
            <a:r>
              <a:rPr lang="ru-RU" sz="2000" b="1" dirty="0" err="1"/>
              <a:t>Accuracy</a:t>
            </a:r>
            <a:r>
              <a:rPr lang="ru-RU" sz="2000" b="1" dirty="0"/>
              <a:t> (Точность) </a:t>
            </a:r>
          </a:p>
          <a:p>
            <a:r>
              <a:rPr lang="ru-RU" sz="2000" dirty="0"/>
              <a:t>Доля правильных предсказаний</a:t>
            </a:r>
          </a:p>
          <a:p>
            <a:r>
              <a:rPr lang="ru-RU" sz="2000" dirty="0"/>
              <a:t>Простая интерпретация для бизнеса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2CDD2-F8BD-4E92-96E2-60FF4CA8CA84}"/>
              </a:ext>
            </a:extLst>
          </p:cNvPr>
          <p:cNvSpPr txBox="1"/>
          <p:nvPr/>
        </p:nvSpPr>
        <p:spPr>
          <a:xfrm>
            <a:off x="5255703" y="2871789"/>
            <a:ext cx="4650951" cy="3760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F-</a:t>
            </a: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score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(F-мера)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Баланс между Precision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Recall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Важно при дисбалансе классов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LogLoss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(Логарифмические потери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Насколько уверены неправильные предсказания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494BA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Чем меньше - тем лучше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41110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C3E66-3778-4006-A6B3-7045EB1A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базовых моделей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FC84E8-131E-4FA7-93C8-D8461F4FA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09518"/>
            <a:ext cx="8466666" cy="39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33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C3E66-3778-4006-A6B3-7045EB1A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ru-RU" dirty="0" err="1"/>
              <a:t>AutoML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Ручная настройка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594D9-DF8D-4C78-9AB9-B82EDBD4D7FE}"/>
              </a:ext>
            </a:extLst>
          </p:cNvPr>
          <p:cNvSpPr txBox="1"/>
          <p:nvPr/>
        </p:nvSpPr>
        <p:spPr>
          <a:xfrm>
            <a:off x="677334" y="4678740"/>
            <a:ext cx="80094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Ключевые наблюдения: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Ручная настройка стабильно лучше на 0.2-0.4%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 маркетинге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AutoML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немного выиграл по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Accuracy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 F-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score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Разница минимальна, но статистически значима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B0D0AD-8547-42A6-AC86-4BED0B87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28066"/>
            <a:ext cx="8332339" cy="32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2C74F-1BBC-433E-9B74-4EE227A2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791D50-695C-4701-8A34-1539CCBF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2080"/>
            <a:ext cx="9320106" cy="54559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Практическая ценность:</a:t>
            </a:r>
          </a:p>
          <a:p>
            <a:r>
              <a:rPr lang="ru-RU" b="1" dirty="0"/>
              <a:t>Для экспертов</a:t>
            </a:r>
            <a:r>
              <a:rPr lang="ru-RU" dirty="0"/>
              <a:t>: Инструмент для сверхбыстрого прототипирования и создания бенчмарка</a:t>
            </a:r>
          </a:p>
          <a:p>
            <a:r>
              <a:rPr lang="ru-RU" b="1" dirty="0"/>
              <a:t>Для бизнеса</a:t>
            </a:r>
            <a:r>
              <a:rPr lang="ru-RU" dirty="0"/>
              <a:t>: Снижение порога входа и ускорение внедрения ML-решений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Соотношение эффективности:</a:t>
            </a:r>
            <a:endParaRPr lang="ru-RU" dirty="0"/>
          </a:p>
          <a:p>
            <a:r>
              <a:rPr lang="ru-RU" b="1" dirty="0"/>
              <a:t>Качество: </a:t>
            </a:r>
            <a:r>
              <a:rPr lang="ru-RU" dirty="0"/>
              <a:t>Ручная настройка дает максимальную точность, но преимущество минимально (0.2–0.4%)</a:t>
            </a:r>
          </a:p>
          <a:p>
            <a:r>
              <a:rPr lang="ru-RU" b="1" dirty="0"/>
              <a:t>Скорость: </a:t>
            </a:r>
            <a:r>
              <a:rPr lang="ru-RU" dirty="0" err="1"/>
              <a:t>AutoML</a:t>
            </a:r>
            <a:r>
              <a:rPr lang="ru-RU" dirty="0"/>
              <a:t> обеспечивает близкое к эксперту качество за часы вместо дней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Оптимальная модель </a:t>
            </a:r>
            <a:r>
              <a:rPr lang="ru-RU" dirty="0"/>
              <a:t>— гибридный интеллект, где:</a:t>
            </a:r>
          </a:p>
          <a:p>
            <a:r>
              <a:rPr lang="ru-RU" dirty="0" err="1"/>
              <a:t>AutoML</a:t>
            </a:r>
            <a:r>
              <a:rPr lang="ru-RU" dirty="0"/>
              <a:t> автоматизирует рутинные задачи настройки моделей</a:t>
            </a:r>
          </a:p>
          <a:p>
            <a:r>
              <a:rPr lang="ru-RU" dirty="0"/>
              <a:t>Эксперты фокусируются на стратегических аспектах: постановке задач, интерпретации результатов и принятии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186141713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198</TotalTime>
  <Words>592</Words>
  <Application>Microsoft Office PowerPoint</Application>
  <PresentationFormat>Широкоэкранный</PresentationFormat>
  <Paragraphs>102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Аспект</vt:lpstr>
      <vt:lpstr>Автоматизированное машинное обучение: AI-управляемое принятие решений в бизнес-аналитике</vt:lpstr>
      <vt:lpstr>Введение</vt:lpstr>
      <vt:lpstr>Обзор AutoML решений </vt:lpstr>
      <vt:lpstr>Обзор AutoML решений </vt:lpstr>
      <vt:lpstr>H2O AutoML</vt:lpstr>
      <vt:lpstr>H2O Архитектура</vt:lpstr>
      <vt:lpstr>H2O масштабируемость на кластерах</vt:lpstr>
      <vt:lpstr>H2O AutoML. Алгоритм работы</vt:lpstr>
      <vt:lpstr>H2O AutoML. Алгоритм работы</vt:lpstr>
      <vt:lpstr>Что делается в статье</vt:lpstr>
      <vt:lpstr>Описание данных</vt:lpstr>
      <vt:lpstr>Предобработка данных</vt:lpstr>
      <vt:lpstr>Метрики оценки качества</vt:lpstr>
      <vt:lpstr>Результаты базовых моделей</vt:lpstr>
      <vt:lpstr>Сравнение AutoML vs Ручная настройка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Автоматизированное машинное обучение: AI-управляемое принятие решений в бизнес-аналитике</dc:title>
  <dc:creator>Алексей Шаврин</dc:creator>
  <cp:lastModifiedBy>Алексей Шаврин</cp:lastModifiedBy>
  <cp:revision>17</cp:revision>
  <dcterms:created xsi:type="dcterms:W3CDTF">2025-11-28T07:36:12Z</dcterms:created>
  <dcterms:modified xsi:type="dcterms:W3CDTF">2025-11-28T11:34:27Z</dcterms:modified>
</cp:coreProperties>
</file>