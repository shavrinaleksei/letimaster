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y="5143500" cx="9144000"/>
  <p:notesSz cx="6858000" cy="9144000"/>
  <p:embeddedFontLst>
    <p:embeddedFont>
      <p:font typeface="Nunito"/>
      <p:regular r:id="rId45"/>
      <p:bold r:id="rId46"/>
      <p:italic r:id="rId47"/>
      <p:boldItalic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C5BA3D2-EC84-4A36-B2BB-82D3F224B5A1}">
  <a:tblStyle styleId="{3C5BA3D2-EC84-4A36-B2BB-82D3F224B5A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44" Type="http://schemas.openxmlformats.org/officeDocument/2006/relationships/slide" Target="slides/slide38.xml"/><Relationship Id="rId21" Type="http://schemas.openxmlformats.org/officeDocument/2006/relationships/slide" Target="slides/slide15.xml"/><Relationship Id="rId43" Type="http://schemas.openxmlformats.org/officeDocument/2006/relationships/slide" Target="slides/slide37.xml"/><Relationship Id="rId24" Type="http://schemas.openxmlformats.org/officeDocument/2006/relationships/slide" Target="slides/slide18.xml"/><Relationship Id="rId46" Type="http://schemas.openxmlformats.org/officeDocument/2006/relationships/font" Target="fonts/Nunito-bold.fntdata"/><Relationship Id="rId23" Type="http://schemas.openxmlformats.org/officeDocument/2006/relationships/slide" Target="slides/slide17.xml"/><Relationship Id="rId45" Type="http://schemas.openxmlformats.org/officeDocument/2006/relationships/font" Target="fonts/Nuni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48" Type="http://schemas.openxmlformats.org/officeDocument/2006/relationships/font" Target="fonts/Nunito-boldItalic.fntdata"/><Relationship Id="rId25" Type="http://schemas.openxmlformats.org/officeDocument/2006/relationships/slide" Target="slides/slide19.xml"/><Relationship Id="rId47" Type="http://schemas.openxmlformats.org/officeDocument/2006/relationships/font" Target="fonts/Nunito-italic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c7e27e1ad8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c7e27e1ad8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cab89010f8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cab89010f8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c7e27e1ad8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c7e27e1ad8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cab89010f8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cab89010f8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c7e27e1ad8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c7e27e1ad8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cabc51c28b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cabc51c28b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cabc51c28b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cabc51c28b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cabc51c28b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cabc51c28b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cabc51c28b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cabc51c28b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cabc51c28b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cabc51c28b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cabc51c28b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cabc51c28b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cabc51c28b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cabc51c28b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cabc51c28b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cabc51c28b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cabc51c28b_2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cabc51c28b_2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cabc51c28b_2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cabc51c28b_2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cabc51c28b_2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cabc51c28b_2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cabc51c28b_2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cabc51c28b_2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c7e27e1ad8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c7e27e1ad8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c7e27e1ad8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c7e27e1ad8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cabc51c28b_2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cabc51c28b_2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cabc51c28b_2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cabc51c28b_2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c7e27e1ad8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c7e27e1ad8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cc30b4ccb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cc30b4ccb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cc30b4ccb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cc30b4ccb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c7e27e1ad8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c7e27e1ad8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cc30b4ccb3_0_3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cc30b4ccb3_0_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cc30b4ccb3_0_3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cc30b4ccb3_0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cc30b4ccb3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cc30b4ccb3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cc30b4ccb3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cc30b4ccb3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cc30b4ccb3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3cc30b4ccb3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cc30b4ccb3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cc30b4ccb3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cc30b4ccb3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cc30b4ccb3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cc30b4ccb3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3cc30b4ccb3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cc30b4ccb3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3cc30b4ccb3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cc30b4ccb3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cc30b4ccb3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cc30b4ccb3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3cc30b4ccb3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cc30b4ccb3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3cc30b4ccb3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12.png"/><Relationship Id="rId5" Type="http://schemas.openxmlformats.org/officeDocument/2006/relationships/image" Target="../media/image11.png"/><Relationship Id="rId6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png"/><Relationship Id="rId4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2.png"/><Relationship Id="rId4" Type="http://schemas.openxmlformats.org/officeDocument/2006/relationships/image" Target="../media/image30.png"/><Relationship Id="rId5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Relationship Id="rId4" Type="http://schemas.openxmlformats.org/officeDocument/2006/relationships/image" Target="../media/image2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1.png"/><Relationship Id="rId4" Type="http://schemas.openxmlformats.org/officeDocument/2006/relationships/image" Target="../media/image2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5.png"/><Relationship Id="rId4" Type="http://schemas.openxmlformats.org/officeDocument/2006/relationships/image" Target="../media/image31.png"/><Relationship Id="rId5" Type="http://schemas.openxmlformats.org/officeDocument/2006/relationships/image" Target="../media/image24.png"/><Relationship Id="rId6" Type="http://schemas.openxmlformats.org/officeDocument/2006/relationships/image" Target="../media/image3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9.png"/><Relationship Id="rId4" Type="http://schemas.openxmlformats.org/officeDocument/2006/relationships/image" Target="../media/image3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7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5.png"/><Relationship Id="rId4" Type="http://schemas.openxmlformats.org/officeDocument/2006/relationships/image" Target="../media/image39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4.png"/><Relationship Id="rId4" Type="http://schemas.openxmlformats.org/officeDocument/2006/relationships/image" Target="../media/image43.png"/><Relationship Id="rId5" Type="http://schemas.openxmlformats.org/officeDocument/2006/relationships/image" Target="../media/image4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8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445408" y="1074900"/>
            <a:ext cx="8520600" cy="20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Глава 2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МОДЕЛЬ НЕЙРОНА.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АРХИТЕКТУРА НЕЙРОСЕТЕЙ</a:t>
            </a:r>
            <a:endParaRPr/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445400" y="39902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Шаврин А.П. гр. 1306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Виноградова М.О. гр. 1310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МОДЕЛЬ ИСКУССТВЕННОГО НЕЙРОНА.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АКТИВАЦИОННЫЕ ФУНКЦИИ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Искусственный нейрон и его структура</a:t>
            </a:r>
            <a:endParaRPr/>
          </a:p>
        </p:txBody>
      </p:sp>
      <p:sp>
        <p:nvSpPr>
          <p:cNvPr id="140" name="Google Shape;140;p15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Искусственный нейрон</a:t>
            </a: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— узел искусственной нейронной сети, являющийся упрощённой моделью естественного нейрона. Математически — нелинейная функция от линейной комбинации всех входных сигналов.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Формальный нейрон (Мак-Каллока — Питтса)</a:t>
            </a: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— элемент, обладающий следующими свойствами: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Работает по принципу </a:t>
            </a:r>
            <a:r>
              <a:rPr b="1"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«все или ничего»</a:t>
            </a: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Находится в одном из двух устойчивых состояний.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Имеет </a:t>
            </a:r>
            <a:r>
              <a:rPr b="1"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возбуждающие</a:t>
            </a: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и </a:t>
            </a:r>
            <a:r>
              <a:rPr b="1"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тормозящие</a:t>
            </a: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входы.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Порог возбуждения </a:t>
            </a:r>
            <a:r>
              <a:rPr b="1"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неизменен</a:t>
            </a: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Возбуждение любого тормозящего входа блокирует нейрон независимо от других сигналов.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Есть задержка прохождения сигнала.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Искусственный нейрон и его структура</a:t>
            </a:r>
            <a:endParaRPr/>
          </a:p>
        </p:txBody>
      </p:sp>
      <p:pic>
        <p:nvPicPr>
          <p:cNvPr id="146" name="Google Shape;14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425" y="1800200"/>
            <a:ext cx="2977775" cy="212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58475" y="1827525"/>
            <a:ext cx="4529033" cy="207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Искусственный нейрон и его структура</a:t>
            </a:r>
            <a:endParaRPr/>
          </a:p>
        </p:txBody>
      </p:sp>
      <p:sp>
        <p:nvSpPr>
          <p:cNvPr id="153" name="Google Shape;153;p17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Последовательность действий нейрона: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AutoNum type="arabicPeriod"/>
            </a:pP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Прием сигналов от предыдущих элементов.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AutoNum type="arabicPeriod"/>
            </a:pP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Комбинирование входных сигналов.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AutoNum type="arabicPeriod"/>
            </a:pP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Вычисление выходного сигнала.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AutoNum type="arabicPeriod"/>
            </a:pP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Передача выходного сигнала дальше.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Математическая модель: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Взвешенная сумма: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Выход: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,где θj​ — пороговое значение (сигнал смещения).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Упрощение:</a:t>
            </a: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Вводят дополнительный вход x0=1 с весом wj0=−θj. Тогда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4" name="Google Shape;15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82875" y="3321025"/>
            <a:ext cx="1913525" cy="38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82400" y="3554125"/>
            <a:ext cx="680725" cy="21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39150" y="4135775"/>
            <a:ext cx="1001087" cy="21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8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Искусственный нейрон и его структура</a:t>
            </a:r>
            <a:endParaRPr/>
          </a:p>
        </p:txBody>
      </p:sp>
      <p:sp>
        <p:nvSpPr>
          <p:cNvPr id="162" name="Google Shape;162;p18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Векторная форма м</a:t>
            </a:r>
            <a:r>
              <a:rPr b="1"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атематической модели</a:t>
            </a:r>
            <a:r>
              <a:rPr b="1"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где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 зависимости от роли, нейроны делятся на 3 типа: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Входные:</a:t>
            </a: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Принимают «сырой» сигнал из внешней среды. Обычно не вычисляют, а только распределяют сигнал.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Выходные:</a:t>
            </a: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Формируют окончательный результат работы сети.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Промежуточные (скрытые):</a:t>
            </a: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Составляют основу сети. Именно они выполняют сложные преобразования, выделяя признаки, и работают по тем же формулам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3" name="Google Shape;16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5600" y="2051525"/>
            <a:ext cx="896200" cy="25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2975" y="2362125"/>
            <a:ext cx="2887188" cy="25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/>
          <p:cNvSpPr txBox="1"/>
          <p:nvPr>
            <p:ph type="title"/>
          </p:nvPr>
        </p:nvSpPr>
        <p:spPr>
          <a:xfrm>
            <a:off x="508900" y="474050"/>
            <a:ext cx="43503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Разновидности искусственных нейронов. Квадратичный нейрон </a:t>
            </a:r>
            <a:endParaRPr/>
          </a:p>
        </p:txBody>
      </p:sp>
      <p:sp>
        <p:nvSpPr>
          <p:cNvPr id="170" name="Google Shape;170;p19"/>
          <p:cNvSpPr txBox="1"/>
          <p:nvPr>
            <p:ph idx="1" type="body"/>
          </p:nvPr>
        </p:nvSpPr>
        <p:spPr>
          <a:xfrm>
            <a:off x="542200" y="2004250"/>
            <a:ext cx="44118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Идея:</a:t>
            </a: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Обеспечить нелинейность преобразования без усложнения функции активации, за счет специальной обработки входных сигналов.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Как работает:</a:t>
            </a:r>
            <a:br>
              <a:rPr b="1"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Нейрон вычисляет не только взвешенную сумму входов, но и взвешенную сумму </a:t>
            </a:r>
            <a:r>
              <a:rPr b="1"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попарных произведений</a:t>
            </a: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входов.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Математическая модель: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Особенности: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7495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Плюсы:</a:t>
            </a: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Позволяет реализовать полиномиальное преобразование любой степени, оставаясь в рамках линейного ассоциатора. Простота реализации.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7495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Минусы:</a:t>
            </a: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Резкое увеличение числа весов. Если входов n, то число квадратичных членов ~ n²/2.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1" name="Google Shape;17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59252" y="351775"/>
            <a:ext cx="3990125" cy="4439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03625" y="3193750"/>
            <a:ext cx="1909400" cy="35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0"/>
          <p:cNvSpPr txBox="1"/>
          <p:nvPr>
            <p:ph type="title"/>
          </p:nvPr>
        </p:nvSpPr>
        <p:spPr>
          <a:xfrm>
            <a:off x="508900" y="474050"/>
            <a:ext cx="82821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Разновидности искусственных нейронов. </a:t>
            </a:r>
            <a:r>
              <a:rPr lang="ru"/>
              <a:t>Обобщенный формальный нейрон</a:t>
            </a:r>
            <a:endParaRPr/>
          </a:p>
        </p:txBody>
      </p:sp>
      <p:sp>
        <p:nvSpPr>
          <p:cNvPr id="178" name="Google Shape;178;p20"/>
          <p:cNvSpPr txBox="1"/>
          <p:nvPr>
            <p:ph idx="1" type="body"/>
          </p:nvPr>
        </p:nvSpPr>
        <p:spPr>
          <a:xfrm>
            <a:off x="508900" y="1477325"/>
            <a:ext cx="7045800" cy="320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Теоретическая основа:</a:t>
            </a: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Теоремы об универсальной аппроксимации (Колмогоров-Арнольд, Цыбенко, Хорник) доказывают, что нейросети могут аппроксимировать любую непрерывную функцию. Для этого нужны гибкие нейроны.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Новые настраиваемые параметры: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γj​ (крутизна):</a:t>
            </a: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Масштабирует аргумент функции активации.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ru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Влияет на «чувствительность» нейрона.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ru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Чем больше γ, тем круче функция, тем резче переход.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Γj (усиление):</a:t>
            </a: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Масштабирует выходной сигнал.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ru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Задает диапазон выходных значений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Математика:</a:t>
            </a:r>
            <a:br>
              <a:rPr b="1"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Связь с популярными функциями: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Гиперболический тангенс с крутизной: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Сигмоида и тангенс связаны: 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9" name="Google Shape;17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76050" y="2078224"/>
            <a:ext cx="3906799" cy="151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68500" y="3409050"/>
            <a:ext cx="1300250" cy="300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95900" y="4015950"/>
            <a:ext cx="2366800" cy="37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8750" y="4314950"/>
            <a:ext cx="1357925" cy="44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1"/>
          <p:cNvSpPr txBox="1"/>
          <p:nvPr>
            <p:ph type="title"/>
          </p:nvPr>
        </p:nvSpPr>
        <p:spPr>
          <a:xfrm>
            <a:off x="508900" y="474050"/>
            <a:ext cx="82821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Разновидности искусственных нейронов. </a:t>
            </a:r>
            <a:r>
              <a:rPr lang="ru"/>
              <a:t>Нейрон Фукушимы</a:t>
            </a:r>
            <a:endParaRPr/>
          </a:p>
        </p:txBody>
      </p:sp>
      <p:sp>
        <p:nvSpPr>
          <p:cNvPr id="188" name="Google Shape;188;p21"/>
          <p:cNvSpPr txBox="1"/>
          <p:nvPr>
            <p:ph idx="1" type="body"/>
          </p:nvPr>
        </p:nvSpPr>
        <p:spPr>
          <a:xfrm>
            <a:off x="508900" y="1477325"/>
            <a:ext cx="4665600" cy="320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Контекст:</a:t>
            </a: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Разработан для </a:t>
            </a:r>
            <a:r>
              <a:rPr b="1"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когнитрона</a:t>
            </a: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— модели зрительной коры, инвариантной к поворотам, сдвигам и масштабу образов.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Биологическая правдоподобность:</a:t>
            </a: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Моделирует механизм латерального торможения в коре мозга.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Ключевые отличия от нейрона Мак-Каллока-Питтса: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AutoNum type="arabicPeriod"/>
            </a:pPr>
            <a:r>
              <a:rPr b="1"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Все веса неотрицательные.</a:t>
            </a: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Нет отрицательных весов.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AutoNum type="arabicPeriod"/>
            </a:pPr>
            <a:r>
              <a:rPr b="1"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Входы разделены на две группы: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○"/>
            </a:pPr>
            <a:r>
              <a:rPr b="1" lang="ru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Возбуждающие (e):</a:t>
            </a:r>
            <a:r>
              <a:rPr lang="ru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Способствуют активации нейрона.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○"/>
            </a:pPr>
            <a:r>
              <a:rPr b="1" lang="ru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Тормозящие (h):</a:t>
            </a:r>
            <a:r>
              <a:rPr lang="ru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Препятствуют активации.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Принцип работы (конкуренция возбуждения и торможения):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Вычисляется взвешенная сумма возбуждающих входов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Вычисляется взвешенная сумма тормозящих входов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Выходной сигнал — функция, которая тем больше, чем сильнее возбуждение по сравнению с торможением.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9" name="Google Shape;18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0450" y="1216275"/>
            <a:ext cx="3716126" cy="2324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33925" y="3217250"/>
            <a:ext cx="2698500" cy="133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2"/>
          <p:cNvSpPr txBox="1"/>
          <p:nvPr>
            <p:ph type="title"/>
          </p:nvPr>
        </p:nvSpPr>
        <p:spPr>
          <a:xfrm>
            <a:off x="508900" y="474050"/>
            <a:ext cx="82821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Разновидности искусственных нейронов. </a:t>
            </a:r>
            <a:r>
              <a:rPr lang="ru"/>
              <a:t>Стохастический нейрон</a:t>
            </a:r>
            <a:endParaRPr/>
          </a:p>
        </p:txBody>
      </p:sp>
      <p:sp>
        <p:nvSpPr>
          <p:cNvPr id="196" name="Google Shape;196;p22"/>
          <p:cNvSpPr txBox="1"/>
          <p:nvPr>
            <p:ph idx="1" type="body"/>
          </p:nvPr>
        </p:nvSpPr>
        <p:spPr>
          <a:xfrm>
            <a:off x="508900" y="1477325"/>
            <a:ext cx="6998400" cy="320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Все предыдущие модели — </a:t>
            </a:r>
            <a:r>
              <a:rPr b="1"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детерминированные</a:t>
            </a: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один и тот же вход всегда дает один и тот же выход.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Стохастический нейрон</a:t>
            </a: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вносит элемент </a:t>
            </a:r>
            <a:r>
              <a:rPr b="1"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случайности</a:t>
            </a: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(вероятностный характер), что сближает его с реальными биологическими системами, где всегда есть шум.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Как работает: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Выход не вычисляется жестко, а </a:t>
            </a:r>
            <a:r>
              <a:rPr b="1"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выбирается случайно</a:t>
            </a: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из двух (или более) состояний с определенной вероятностью.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Например (для бинарного случая):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 качестве функции вероятности состояний P(v) используется сигмоида: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где T — переменная, называемая в теории ИНС псевдо-температуройи определяющая уровень неопределенности состояний; v — параметр, описывающий эффект синаптического шума в биологических системах.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При уменьшении псевдотемпературы (T -&gt; 0 ) стохастический нейрон превращается в детерминированный.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7" name="Google Shape;197;p22"/>
          <p:cNvPicPr preferRelativeResize="0"/>
          <p:nvPr/>
        </p:nvPicPr>
        <p:blipFill rotWithShape="1">
          <a:blip r:embed="rId3">
            <a:alphaModFix/>
          </a:blip>
          <a:srcRect b="0" l="0" r="0" t="23171"/>
          <a:stretch/>
        </p:blipFill>
        <p:spPr>
          <a:xfrm>
            <a:off x="3068625" y="2819263"/>
            <a:ext cx="1464150" cy="51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8425" y="3276925"/>
            <a:ext cx="1258025" cy="51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3"/>
          <p:cNvSpPr txBox="1"/>
          <p:nvPr>
            <p:ph type="title"/>
          </p:nvPr>
        </p:nvSpPr>
        <p:spPr>
          <a:xfrm>
            <a:off x="508900" y="474050"/>
            <a:ext cx="82821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Разновидности искусственных нейронов. </a:t>
            </a:r>
            <a:r>
              <a:rPr lang="ru"/>
              <a:t>Динамические нейроны</a:t>
            </a:r>
            <a:endParaRPr/>
          </a:p>
        </p:txBody>
      </p:sp>
      <p:sp>
        <p:nvSpPr>
          <p:cNvPr id="204" name="Google Shape;204;p23"/>
          <p:cNvSpPr txBox="1"/>
          <p:nvPr>
            <p:ph idx="1" type="body"/>
          </p:nvPr>
        </p:nvSpPr>
        <p:spPr>
          <a:xfrm>
            <a:off x="508900" y="1477325"/>
            <a:ext cx="5454600" cy="320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Динамические нейроны (общее понятие)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Статические нейроны (ранее рассмотренные) описываются </a:t>
            </a:r>
            <a:r>
              <a:rPr b="1"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алгебраическими уравнениями</a:t>
            </a: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выход yj(k) зависит только от входов xi(k) в тот же момент времени.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Динамические нейроны</a:t>
            </a: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описываются </a:t>
            </a:r>
            <a:r>
              <a:rPr b="1"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разностными или дифференциальными уравнениями</a:t>
            </a: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их поведение зависит от </a:t>
            </a:r>
            <a:r>
              <a:rPr b="1"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предыстории</a:t>
            </a: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(прошлых состояний). Применяются в задачах оптимизации, цифровой обработки сигналов, управления.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4"/>
          <p:cNvSpPr txBox="1"/>
          <p:nvPr>
            <p:ph type="title"/>
          </p:nvPr>
        </p:nvSpPr>
        <p:spPr>
          <a:xfrm>
            <a:off x="508900" y="474050"/>
            <a:ext cx="82821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Разновидности искусственных нейронов. Динамические нейроны</a:t>
            </a:r>
            <a:endParaRPr/>
          </a:p>
        </p:txBody>
      </p:sp>
      <p:sp>
        <p:nvSpPr>
          <p:cNvPr id="210" name="Google Shape;210;p24"/>
          <p:cNvSpPr txBox="1"/>
          <p:nvPr>
            <p:ph idx="1" type="body"/>
          </p:nvPr>
        </p:nvSpPr>
        <p:spPr>
          <a:xfrm>
            <a:off x="508900" y="1477325"/>
            <a:ext cx="4601700" cy="320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Нейрон Хопфилда (простейший динамический)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Описывается </a:t>
            </a:r>
            <a:r>
              <a:rPr b="1"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рекуррентным уравнением</a:t>
            </a: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 цепь обратной связи включен элемент </a:t>
            </a:r>
            <a:r>
              <a:rPr b="1"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чистой задержки</a:t>
            </a: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 точки зрения теории управления – модель нелинейной динамической системы в пространстве состояний.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 точки зрения теории случайных процессов – </a:t>
            </a:r>
            <a:r>
              <a:rPr b="1"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нелинейная марковская последовательность первого порядка</a:t>
            </a: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(поведение определяется только предыдущим состоянием).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1" name="Google Shape;211;p24"/>
          <p:cNvPicPr preferRelativeResize="0"/>
          <p:nvPr/>
        </p:nvPicPr>
        <p:blipFill rotWithShape="1">
          <a:blip r:embed="rId3">
            <a:alphaModFix/>
          </a:blip>
          <a:srcRect b="9165" l="0" r="0" t="0"/>
          <a:stretch/>
        </p:blipFill>
        <p:spPr>
          <a:xfrm>
            <a:off x="5110600" y="2035500"/>
            <a:ext cx="3844250" cy="164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8675" y="2145418"/>
            <a:ext cx="3224775" cy="42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38898" y="2929665"/>
            <a:ext cx="1244325" cy="29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5"/>
          <p:cNvSpPr txBox="1"/>
          <p:nvPr>
            <p:ph type="title"/>
          </p:nvPr>
        </p:nvSpPr>
        <p:spPr>
          <a:xfrm>
            <a:off x="508900" y="474050"/>
            <a:ext cx="82821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Разновидности искусственных нейронов. Динамические нейроны</a:t>
            </a:r>
            <a:endParaRPr/>
          </a:p>
        </p:txBody>
      </p:sp>
      <p:sp>
        <p:nvSpPr>
          <p:cNvPr id="219" name="Google Shape;219;p25"/>
          <p:cNvSpPr txBox="1"/>
          <p:nvPr>
            <p:ph idx="1" type="body"/>
          </p:nvPr>
        </p:nvSpPr>
        <p:spPr>
          <a:xfrm>
            <a:off x="508900" y="1477325"/>
            <a:ext cx="4601700" cy="320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Модификация – нейрон с авторегрессией (NARX)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Учитывает более отдаленную предысторию (задержки по выходу):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Первая сумма – </a:t>
            </a:r>
            <a:r>
              <a:rPr b="1"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авторегрессионная часть</a:t>
            </a: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(задержанные состояния этого же нейрона), вторая – текущие входы от других нейронов (экзогенные сигналы).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Параметр p – глубина памяти (порядок авторегрессии).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0" name="Google Shape;22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46100" y="1318650"/>
            <a:ext cx="3644900" cy="303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6975" y="2335075"/>
            <a:ext cx="3785549" cy="38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6"/>
          <p:cNvSpPr txBox="1"/>
          <p:nvPr>
            <p:ph type="title"/>
          </p:nvPr>
        </p:nvSpPr>
        <p:spPr>
          <a:xfrm>
            <a:off x="508900" y="474050"/>
            <a:ext cx="82821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Разновидности искусственных нейронов. Динамические нейроны</a:t>
            </a:r>
            <a:endParaRPr/>
          </a:p>
        </p:txBody>
      </p:sp>
      <p:sp>
        <p:nvSpPr>
          <p:cNvPr id="227" name="Google Shape;227;p26"/>
          <p:cNvSpPr txBox="1"/>
          <p:nvPr>
            <p:ph idx="1" type="body"/>
          </p:nvPr>
        </p:nvSpPr>
        <p:spPr>
          <a:xfrm>
            <a:off x="508900" y="1477325"/>
            <a:ext cx="4601700" cy="320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Нейрон Гроссберга (более сложная динамика)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 цепь обратной связи поступают не только выходные сигналы xj, но и </a:t>
            </a:r>
            <a:r>
              <a:rPr b="1"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внутренний сигнал</a:t>
            </a: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uj (потенциал нейрона до функции активации).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Позволяет моделировать более богатую динамику и используется в сетях адаптивной резонансной теории (АРТ).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8" name="Google Shape;22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0600" y="1334750"/>
            <a:ext cx="3728600" cy="30201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7"/>
          <p:cNvSpPr txBox="1"/>
          <p:nvPr>
            <p:ph type="title"/>
          </p:nvPr>
        </p:nvSpPr>
        <p:spPr>
          <a:xfrm>
            <a:off x="508900" y="474050"/>
            <a:ext cx="82821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Разновидности искусственных нейронов. Динамические нейроны</a:t>
            </a:r>
            <a:endParaRPr/>
          </a:p>
        </p:txBody>
      </p:sp>
      <p:sp>
        <p:nvSpPr>
          <p:cNvPr id="234" name="Google Shape;234;p27"/>
          <p:cNvSpPr txBox="1"/>
          <p:nvPr>
            <p:ph idx="1" type="body"/>
          </p:nvPr>
        </p:nvSpPr>
        <p:spPr>
          <a:xfrm>
            <a:off x="508900" y="1477325"/>
            <a:ext cx="4601700" cy="320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Динамический цифровой нейрон-фильтр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Использует аппарат теории цифровой фильтрации.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Описывается нелинейным разностным уравнением общего вида, объединяя задержки как по входу, так и по выходу (аналог БИХ-фильтров).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Применяется в задачах адаптивной фильтрации и обработки сигналов.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5" name="Google Shape;23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7550" y="1175350"/>
            <a:ext cx="2847261" cy="3410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8"/>
          <p:cNvSpPr txBox="1"/>
          <p:nvPr>
            <p:ph type="title"/>
          </p:nvPr>
        </p:nvSpPr>
        <p:spPr>
          <a:xfrm>
            <a:off x="508900" y="474050"/>
            <a:ext cx="82821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Разновидности искусственных нейронов. </a:t>
            </a:r>
            <a:r>
              <a:rPr lang="ru"/>
              <a:t>Адалина (ADALINE)</a:t>
            </a:r>
            <a:endParaRPr/>
          </a:p>
        </p:txBody>
      </p:sp>
      <p:sp>
        <p:nvSpPr>
          <p:cNvPr id="241" name="Google Shape;241;p28"/>
          <p:cNvSpPr txBox="1"/>
          <p:nvPr>
            <p:ph idx="1" type="body"/>
          </p:nvPr>
        </p:nvSpPr>
        <p:spPr>
          <a:xfrm>
            <a:off x="508900" y="1477325"/>
            <a:ext cx="5259900" cy="320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Назначение:</a:t>
            </a: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простейший обучающийся нейрон для задач распознавания, обработки сигналов, реализации логических функций.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Структура: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2256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n+1 вход: x0,x1,…,xn​ ( x0=1 для учёта порога).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2256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Два выхода: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2256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AutoNum type="arabicPeriod"/>
            </a:pPr>
            <a:r>
              <a:rPr lang="ru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Аналоговый: 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2256" lvl="1" marL="9144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AutoNum type="arabicPeriod"/>
            </a:pPr>
            <a:r>
              <a:rPr lang="ru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Бинарный: yj=sign⁡(uj)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2256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Вход для обучающего сигнала</a:t>
            </a: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dj – желаемая реакция на данный набор входов.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Обучение: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2256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Ошибка: ej=dj−uj (линейная, зависит от uj​).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2256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Сигнал ошибки поступает в алгоритм, который минимизирует квадратичный критерий E=0.5ej^2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2256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Это позволяет использовать различные адаптивные процедуры (например, метод наименьших квадратов).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Применение: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2256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Как самостоятельный классификатор.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2256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Как элемент многослойных сетей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2" name="Google Shape;242;p28"/>
          <p:cNvPicPr preferRelativeResize="0"/>
          <p:nvPr/>
        </p:nvPicPr>
        <p:blipFill rotWithShape="1">
          <a:blip r:embed="rId3">
            <a:alphaModFix/>
          </a:blip>
          <a:srcRect b="13262" l="0" r="0" t="0"/>
          <a:stretch/>
        </p:blipFill>
        <p:spPr>
          <a:xfrm>
            <a:off x="1468275" y="2571750"/>
            <a:ext cx="1156600" cy="28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10850" y="1695200"/>
            <a:ext cx="3728600" cy="21002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9"/>
          <p:cNvSpPr txBox="1"/>
          <p:nvPr>
            <p:ph type="title"/>
          </p:nvPr>
        </p:nvSpPr>
        <p:spPr>
          <a:xfrm>
            <a:off x="508900" y="474050"/>
            <a:ext cx="82821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Разновидности искусственных нейронов. </a:t>
            </a:r>
            <a:r>
              <a:rPr lang="ru"/>
              <a:t>Персептрон Розенблатта </a:t>
            </a:r>
            <a:endParaRPr/>
          </a:p>
        </p:txBody>
      </p:sp>
      <p:sp>
        <p:nvSpPr>
          <p:cNvPr id="249" name="Google Shape;249;p29"/>
          <p:cNvSpPr txBox="1"/>
          <p:nvPr>
            <p:ph idx="1" type="body"/>
          </p:nvPr>
        </p:nvSpPr>
        <p:spPr>
          <a:xfrm>
            <a:off x="508900" y="1477325"/>
            <a:ext cx="5259900" cy="320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Персептрон Розенблатта (1957)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Структурно подобен Адалине, но: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ru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Использует </a:t>
            </a:r>
            <a:r>
              <a:rPr b="1" lang="ru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бинарный выход</a:t>
            </a:r>
            <a:r>
              <a:rPr lang="ru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yj=ψ(uj), где ψ – пороговая (сигнум) функция.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ru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Ошибка ej=dj−yj </a:t>
            </a:r>
            <a:r>
              <a:rPr b="1" lang="ru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нелинейно</a:t>
            </a:r>
            <a:r>
              <a:rPr lang="ru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зависит от входов, что усложняет обучение.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Проблема:</a:t>
            </a: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классический персептрон не может решать задачи типа «исключающее ИЛИ» (Минский, Пейперт, 1969).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0" name="Google Shape;25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74875" y="1559325"/>
            <a:ext cx="3245550" cy="198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0"/>
          <p:cNvSpPr txBox="1"/>
          <p:nvPr>
            <p:ph type="title"/>
          </p:nvPr>
        </p:nvSpPr>
        <p:spPr>
          <a:xfrm>
            <a:off x="508900" y="474050"/>
            <a:ext cx="82821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Разновидности искусственных нейронов. Персептрон Розенблатта (Дельта-правило) </a:t>
            </a:r>
            <a:endParaRPr/>
          </a:p>
        </p:txBody>
      </p:sp>
      <p:sp>
        <p:nvSpPr>
          <p:cNvPr id="256" name="Google Shape;256;p30"/>
          <p:cNvSpPr txBox="1"/>
          <p:nvPr>
            <p:ph idx="1" type="body"/>
          </p:nvPr>
        </p:nvSpPr>
        <p:spPr>
          <a:xfrm>
            <a:off x="508900" y="1477325"/>
            <a:ext cx="5259900" cy="320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Дельта-правило обучения (обобщение)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972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Вводится </a:t>
            </a:r>
            <a:r>
              <a:rPr b="1"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локальная ошибка</a:t>
            </a: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972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Обновление весов (векторная форма):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972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Примеры для разных активационных функций: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972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Выбор шага обучения η(k):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972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○"/>
            </a:pPr>
            <a:r>
              <a:rPr lang="ru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Может быть постоянным (обычно η≤1), но это замедляет сходимость.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972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○"/>
            </a:pPr>
            <a:r>
              <a:rPr lang="ru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Может адаптироваться в зависимости от распределения ошибки (например, по формулам для невырожденных распределений или распределений с ограниченной дисперсией).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972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○"/>
            </a:pPr>
            <a:r>
              <a:rPr lang="ru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Требуется компромисс между скоростью сходимости и устойчивостью.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972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Замечание:</a:t>
            </a: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реализация требует точного вычисления активационных функций и их производных. В некоторых случаях применяют безградиентные методы.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7" name="Google Shape;25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1295" y="1995025"/>
            <a:ext cx="2040675" cy="40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19188" y="2329775"/>
            <a:ext cx="2028479" cy="24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72125" y="2735950"/>
            <a:ext cx="2515051" cy="74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47675" y="1548313"/>
            <a:ext cx="3431276" cy="200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1"/>
          <p:cNvSpPr txBox="1"/>
          <p:nvPr>
            <p:ph type="title"/>
          </p:nvPr>
        </p:nvSpPr>
        <p:spPr>
          <a:xfrm>
            <a:off x="819150" y="38195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Ограничения модели нейрона</a:t>
            </a:r>
            <a:endParaRPr/>
          </a:p>
        </p:txBody>
      </p:sp>
      <p:sp>
        <p:nvSpPr>
          <p:cNvPr id="266" name="Google Shape;266;p31"/>
          <p:cNvSpPr txBox="1"/>
          <p:nvPr>
            <p:ph idx="1" type="body"/>
          </p:nvPr>
        </p:nvSpPr>
        <p:spPr>
          <a:xfrm>
            <a:off x="819150" y="1098725"/>
            <a:ext cx="75057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Ограничения модели искусственного нейрона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Искусственный нейрон – лишь упрощенная модель биологического прототипа. Необходимо учитывать следующие ограничения: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733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AutoNum type="arabicPeriod"/>
            </a:pPr>
            <a:r>
              <a:rPr b="1"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Мгновенность вычислений:</a:t>
            </a: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Выход формируется без задержки, что не позволяет напрямую моделировать динамические системы с «внутренним состоянием». Реальные нейроны имеют инерционность.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733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AutoNum type="arabicPeriod"/>
            </a:pPr>
            <a:r>
              <a:rPr b="1"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Отсутствие импульсной природы:</a:t>
            </a: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В модели нет нервных импульсов. Сигнал передается одним числом, а не кодируется частотой или плотностью импульсов. Это исключает эффекты синхронизации, важные в реальных нейросетях.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733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AutoNum type="arabicPeriod"/>
            </a:pPr>
            <a:r>
              <a:rPr b="1"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Неопределенность выбора:</a:t>
            </a: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До сих пор нет четких алгоритмов для выбора функции активации под конкретную задачу – выбор часто эмпирический.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733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AutoNum type="arabicPeriod"/>
            </a:pPr>
            <a:r>
              <a:rPr b="1"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Нет глобальной регуляции:</a:t>
            </a: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В модели отсутствуют механизмы, регулирующие работу сети в целом (например, гормональная регуляция в биологических системах).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733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AutoNum type="arabicPeriod"/>
            </a:pPr>
            <a:r>
              <a:rPr b="1"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Упрощение понятий «порог» и «вес»: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733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○"/>
            </a:pPr>
            <a:r>
              <a:rPr lang="ru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 реальности порог не является фиксированным числом, он динамически меняется.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733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○"/>
            </a:pPr>
            <a:r>
              <a:rPr lang="ru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Веса синапсов пластичны и непостоянны; они настраиваются в зависимости от проходящих сигналов.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733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AutoNum type="arabicPeriod"/>
            </a:pPr>
            <a:r>
              <a:rPr b="1"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Ограниченное разнообразие синапсов:</a:t>
            </a: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В модели есть только возбуждающие и тормозящие входы (разного знака). Реальные синапсы гораздо разнообразнее (дендрит-дендритные, аксо-аксональные и др.).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733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AutoNum type="arabicPeriod"/>
            </a:pPr>
            <a:r>
              <a:rPr b="1"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Нет различия типов сигналов:</a:t>
            </a: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Модель не различает градуальные потенциалы и нервные импульсы – любой сигнал представляется одним числом.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Вывод:</a:t>
            </a: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Модель формального нейрона – это </a:t>
            </a:r>
            <a:r>
              <a:rPr b="1"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математическая абстракция</a:t>
            </a: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а не точная копия живого нейрона. Тем не менее, несмотря на все ограничения, с помощью таких упрощенных моделей успешно решается огромное разнообразие практических задач.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2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Активационные функции</a:t>
            </a:r>
            <a:endParaRPr/>
          </a:p>
        </p:txBody>
      </p:sp>
      <p:sp>
        <p:nvSpPr>
          <p:cNvPr id="272" name="Google Shape;272;p32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Определение:</a:t>
            </a: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Функция активации (передаточная функция) – это функция, которая преобразует взвешенную сумму входов u=∑xiwi в выходной сигнал нейрона y.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Зачем она нужна: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972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AutoNum type="arabicPeriod"/>
            </a:pPr>
            <a:r>
              <a:rPr b="1"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Вносит нелинейность.</a:t>
            </a: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Без нелинейной активации многослойная сеть эквивалентна однослойной (линейной) и не может решать сложные задачи.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972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AutoNum type="arabicPeriod"/>
            </a:pPr>
            <a:r>
              <a:rPr b="1"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Ограничивает выход.</a:t>
            </a: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Часто приводит выходное значение в заданный диапазон (например, [0,1] или [-1,1]), что удобно для интерпретации и дальнейшей обработки.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972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AutoNum type="arabicPeriod"/>
            </a:pPr>
            <a:r>
              <a:rPr b="1"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Обеспечивает дифференцируемость</a:t>
            </a: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(для многих функций), что необходимо для градиентных методов обучения.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Входные сигналы и веса</a:t>
            </a: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могут быть любыми действительными числами. Веса делятся на возбуждающие (положительные) и тормозящие (отрицательные).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Вывод:</a:t>
            </a: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Функция активации – это «характер» нейрона, определяющий, как он реагирует на входные воздействия.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3"/>
          <p:cNvSpPr txBox="1"/>
          <p:nvPr>
            <p:ph type="title"/>
          </p:nvPr>
        </p:nvSpPr>
        <p:spPr>
          <a:xfrm>
            <a:off x="819150" y="47612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Основные виды функций активации</a:t>
            </a:r>
            <a:endParaRPr/>
          </a:p>
        </p:txBody>
      </p:sp>
      <p:pic>
        <p:nvPicPr>
          <p:cNvPr id="278" name="Google Shape;27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3650" y="1575900"/>
            <a:ext cx="3019674" cy="303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09300" y="1575900"/>
            <a:ext cx="3183650" cy="226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4"/>
          <p:cNvSpPr txBox="1"/>
          <p:nvPr>
            <p:ph type="title"/>
          </p:nvPr>
        </p:nvSpPr>
        <p:spPr>
          <a:xfrm>
            <a:off x="724975" y="36022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Свойства и выбор функции активации</a:t>
            </a:r>
            <a:endParaRPr/>
          </a:p>
        </p:txBody>
      </p:sp>
      <p:sp>
        <p:nvSpPr>
          <p:cNvPr id="285" name="Google Shape;285;p34"/>
          <p:cNvSpPr txBox="1"/>
          <p:nvPr>
            <p:ph idx="1" type="body"/>
          </p:nvPr>
        </p:nvSpPr>
        <p:spPr>
          <a:xfrm>
            <a:off x="761200" y="8823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Выбор определяется несколькими факторами: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Специфика задачи</a:t>
            </a: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(классификация, регрессия, обработка изображений и т.д.).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Удобство реализации</a:t>
            </a: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(на ЭВМ, в виде схемы).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Алгоритм обучения</a:t>
            </a: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(некоторые алгоритмы требуют дифференцируемости).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86" name="Google Shape;286;p34"/>
          <p:cNvGraphicFramePr/>
          <p:nvPr/>
        </p:nvGraphicFramePr>
        <p:xfrm>
          <a:off x="568525" y="1977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{3C5BA3D2-EC84-4A36-B2BB-82D3F224B5A1}</a:tableStyleId>
              </a:tblPr>
              <a:tblGrid>
                <a:gridCol w="1839025"/>
                <a:gridCol w="6052025"/>
              </a:tblGrid>
              <a:tr h="2567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800"/>
                        <a:t>Свойство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800"/>
                        <a:t>Зачем нужно</a:t>
                      </a:r>
                      <a:endParaRPr b="1" sz="800"/>
                    </a:p>
                  </a:txBody>
                  <a:tcPr marT="91425" marB="91425" marR="91425" marL="91425"/>
                </a:tc>
              </a:tr>
              <a:tr h="377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800"/>
                        <a:t>Нелинейность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Обеспечивает универсальную аппроксимацию. Без неё сеть эквивалентна однослойной.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441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800"/>
                        <a:t>Непрерывная дифференцируемость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Необходима для градиентных методов обучения (хотя ReLU, недифференцируемая в 0, успешно используется).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77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800"/>
                        <a:t>Ограниченная область значений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Повышает стабильность обучения, так как веса не «раздуваются».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441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800"/>
                        <a:t>Монотонность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Гарантирует выпуклость поверхности ошибки для однослойных моделей, что упрощает обучение.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77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800"/>
                        <a:t>Аппроксимация тождественной функции вблизи нуля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Позволяет эффективно инициализировать веса малыми случайными числами.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59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800"/>
                        <a:t>Простота вычисления производной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Ускоряет обучение.</a:t>
                      </a:r>
                      <a:endParaRPr sz="11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5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Основные задачи, решаемые ИНС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Уровни биологического моделирования</a:t>
            </a:r>
            <a:endParaRPr/>
          </a:p>
        </p:txBody>
      </p:sp>
      <p:sp>
        <p:nvSpPr>
          <p:cNvPr id="297" name="Google Shape;297;p36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группа нейронов;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нейронная сеть;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нервная система;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мыслительная деятельность;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мозг.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Нейронная сеть — параллельная связная сеть простых адаптивных элементов, которая взаимодействует с объектами реального мира аналогично биологической нервной системе.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7"/>
          <p:cNvSpPr txBox="1"/>
          <p:nvPr>
            <p:ph idx="1" type="body"/>
          </p:nvPr>
        </p:nvSpPr>
        <p:spPr>
          <a:xfrm>
            <a:off x="819150" y="2772200"/>
            <a:ext cx="3303900" cy="166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где X и Y — соответственно входной и выходной сигнальные векторы;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F(V) — активационная функция, применяемая поэлементно к компо-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нентам вектора V = XW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03" name="Google Shape;303;p37" title="Снимок экрана 2026-03-02 в 15.25.0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9528" y="317575"/>
            <a:ext cx="4618951" cy="3536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37" title="Снимок экрана 2026-03-02 в 15.28.2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625" y="317575"/>
            <a:ext cx="2859025" cy="130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37" title="Снимок экрана 2026-03-02 в 15.28.4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5625" y="1549250"/>
            <a:ext cx="3167100" cy="682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37" title="Снимок экрана 2026-03-02 в 15.28.52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5625" y="2231400"/>
            <a:ext cx="1753503" cy="54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Классификация искусственных нейронных сетей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9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 Выбор структуры ИНС</a:t>
            </a:r>
            <a:endParaRPr/>
          </a:p>
        </p:txBody>
      </p:sp>
      <p:sp>
        <p:nvSpPr>
          <p:cNvPr id="317" name="Google Shape;317;p39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возможности сети возрастают с увеличением числа ячеек сети;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плотности связей между ними и числом выделенных слоев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введение обратных связей наряду с увеличением возможностей сети поднимает вопрос о динамической устойчивости сети;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сложность алгоритмов функционирования сети способствует усилению мощи нейронной сети.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0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Задачи НС</a:t>
            </a:r>
            <a:endParaRPr/>
          </a:p>
        </p:txBody>
      </p:sp>
      <p:sp>
        <p:nvSpPr>
          <p:cNvPr id="323" name="Google Shape;323;p40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24" name="Google Shape;324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32947" y="1025675"/>
            <a:ext cx="5646075" cy="3627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1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Статические многослойные НС</a:t>
            </a:r>
            <a:endParaRPr/>
          </a:p>
        </p:txBody>
      </p:sp>
      <p:sp>
        <p:nvSpPr>
          <p:cNvPr id="330" name="Google Shape;330;p41"/>
          <p:cNvSpPr txBox="1"/>
          <p:nvPr>
            <p:ph idx="1" type="body"/>
          </p:nvPr>
        </p:nvSpPr>
        <p:spPr>
          <a:xfrm>
            <a:off x="819150" y="1990725"/>
            <a:ext cx="37530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Выход i-го элемента в l-м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слое многослойной нейросети может быть определен в виде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31" name="Google Shape;331;p41" title="Снимок экрана 2026-03-02 в 16.03.5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8049" y="1800200"/>
            <a:ext cx="4438575" cy="305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41" title="Снимок экрана 2026-03-02 в 16.05.4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5750" y="2834575"/>
            <a:ext cx="3390925" cy="86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2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Математическая модель многослойной нейронной сети</a:t>
            </a:r>
            <a:endParaRPr/>
          </a:p>
        </p:txBody>
      </p:sp>
      <p:sp>
        <p:nvSpPr>
          <p:cNvPr id="338" name="Google Shape;338;p42"/>
          <p:cNvSpPr txBox="1"/>
          <p:nvPr>
            <p:ph idx="1" type="body"/>
          </p:nvPr>
        </p:nvSpPr>
        <p:spPr>
          <a:xfrm>
            <a:off x="4772425" y="2680300"/>
            <a:ext cx="3552300" cy="175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i = 1,2 …, n, — число нейронов второго слоя;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k = 1,2, ... ,l  — число нейронов первого слоя;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f1, f2 , — функции активации нейронов 1-го и 2-го слоев;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w10 i — начальное возбуждение 1-го нейрона 1-го слоя;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w20k — начальное возбуждение k-го нейрона 2-го слоя;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w2i, w1k , — весовые коэффициенты i-го нейрона второго слоя и k-го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нейрона первого слоя;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yi (t) — i-я координата выходного вектора;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xk (t ) — k-я координата входного вектора.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 общем случае l != n 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39" name="Google Shape;339;p42" title="Снимок экрана 2026-03-02 в 16.08.3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375" y="1990724"/>
            <a:ext cx="4649375" cy="2585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42" title="Снимок экрана 2026-03-02 в 16.16.0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9750" y="1908750"/>
            <a:ext cx="3953500" cy="66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3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Математическая модель многослойной нейронной сети</a:t>
            </a:r>
            <a:endParaRPr/>
          </a:p>
        </p:txBody>
      </p:sp>
      <p:sp>
        <p:nvSpPr>
          <p:cNvPr id="346" name="Google Shape;346;p43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47" name="Google Shape;347;p43" title="Снимок экрана 2026-03-02 в 16.27.0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80325" y="2114199"/>
            <a:ext cx="5097176" cy="220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Динамические многослойные нейронные сети</a:t>
            </a:r>
            <a:endParaRPr/>
          </a:p>
        </p:txBody>
      </p:sp>
      <p:sp>
        <p:nvSpPr>
          <p:cNvPr id="353" name="Google Shape;353;p4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54" name="Google Shape;354;p44" title="Снимок экрана 2026-03-02 в 16.29.1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14947" y="1535825"/>
            <a:ext cx="4754799" cy="3035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44" title="Снимок экрана 2026-03-02 в 16.30.3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6325" y="2787425"/>
            <a:ext cx="3610801" cy="43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44" title="Снимок экрана 2026-03-02 в 16.30.57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6976" y="3218995"/>
            <a:ext cx="3984451" cy="78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Динамические многослойные нейронные сети</a:t>
            </a:r>
            <a:endParaRPr/>
          </a:p>
        </p:txBody>
      </p:sp>
      <p:sp>
        <p:nvSpPr>
          <p:cNvPr id="362" name="Google Shape;362;p45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63" name="Google Shape;363;p45" title="Снимок экрана 2026-03-02 в 16.35.5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4813" y="1917175"/>
            <a:ext cx="7014376" cy="273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4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Категории задач ИНС</a:t>
            </a:r>
            <a:endParaRPr/>
          </a:p>
        </p:txBody>
      </p:sp>
      <p:sp>
        <p:nvSpPr>
          <p:cNvPr id="369" name="Google Shape;369;p46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А — распознавание, классификация и кластеризация (в задачах кластеризации осуществляется классификация образов и объединение близких образов в один кластер).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 — обработка различного рода изображений.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 — системы идентификации и управления.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D — обработка сигналов и аппроксимация функций при решении инженерных и научных задач моделирования.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47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Топологии</a:t>
            </a:r>
            <a:endParaRPr/>
          </a:p>
        </p:txBody>
      </p:sp>
      <p:sp>
        <p:nvSpPr>
          <p:cNvPr id="375" name="Google Shape;375;p47"/>
          <p:cNvSpPr txBox="1"/>
          <p:nvPr>
            <p:ph idx="1" type="body"/>
          </p:nvPr>
        </p:nvSpPr>
        <p:spPr>
          <a:xfrm>
            <a:off x="819150" y="1990725"/>
            <a:ext cx="30336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полносвязные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многослойные или слоистые 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ru"/>
              <a:t>Монотонные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ru"/>
              <a:t>Сети без обратных связей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ru"/>
              <a:t>Сети c обратными связями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слабосвязные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76" name="Google Shape;376;p47" title="Снимок экрана 2026-03-02 в 16.44.2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02975" y="646800"/>
            <a:ext cx="4964149" cy="3791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48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Теорема Колмогорова</a:t>
            </a:r>
            <a:endParaRPr/>
          </a:p>
        </p:txBody>
      </p:sp>
      <p:pic>
        <p:nvPicPr>
          <p:cNvPr id="382" name="Google Shape;382;p48" title="Снимок экрана 2026-03-02 в 17.01.2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151" y="1844002"/>
            <a:ext cx="6047173" cy="134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9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 терминах НС</a:t>
            </a:r>
            <a:endParaRPr/>
          </a:p>
        </p:txBody>
      </p:sp>
      <p:sp>
        <p:nvSpPr>
          <p:cNvPr id="388" name="Google Shape;388;p49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Любую непрерывную функцию нескольких переменных можно с любой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точностью реализовать с помощью двухслойной нейросети с достаточ-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ным количеством нейронов и нелинейной активационной функцией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 скрытом слое.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50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Выбор количества нейронов и слоев</a:t>
            </a:r>
            <a:endParaRPr/>
          </a:p>
        </p:txBody>
      </p:sp>
      <p:sp>
        <p:nvSpPr>
          <p:cNvPr id="394" name="Google Shape;394;p50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Количество нейронов и слоев определяется:</a:t>
            </a:r>
            <a:endParaRPr/>
          </a:p>
          <a:p>
            <a:pPr indent="-30495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ru"/>
              <a:t>сложностью задачи;</a:t>
            </a:r>
            <a:endParaRPr/>
          </a:p>
          <a:p>
            <a:pPr indent="-30495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ru"/>
              <a:t>количеством данных для обучения;</a:t>
            </a:r>
            <a:endParaRPr/>
          </a:p>
          <a:p>
            <a:pPr indent="-30495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ru"/>
              <a:t>требуемым количеством входов и выходов сети;</a:t>
            </a:r>
            <a:endParaRPr/>
          </a:p>
          <a:p>
            <a:pPr indent="-30495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ru"/>
              <a:t>имеющимися ресурсами, а именно, памятью и быстродействием машины, на которой моделируется сеть.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Если в сети слишком мало нейронов или слоев:</a:t>
            </a:r>
            <a:endParaRPr/>
          </a:p>
          <a:p>
            <a:pPr indent="-30495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ru"/>
              <a:t>сеть не обучится, и ошибка при работе сети останется большой;</a:t>
            </a:r>
            <a:endParaRPr/>
          </a:p>
          <a:p>
            <a:pPr indent="-30495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ru"/>
              <a:t>на выходе сети не будут передаваться резкие колебания аппроксимируемой функции y(x);</a:t>
            </a:r>
            <a:endParaRPr/>
          </a:p>
          <a:p>
            <a:pPr indent="-30495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ru"/>
              <a:t>превышение требуемого количества нейронов тоже мешает работе сети.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